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-1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16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6858000" cy="6858000"/>
          </a:xfrm>
          <a:prstGeom prst="ellipse">
            <a:avLst/>
          </a:prstGeom>
          <a:solidFill>
            <a:srgbClr val="0049A8">
              <a:alpha val="2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97D5FC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optisave/assets/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0515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r>
              <a:rPr lang="en-US" sz="54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463040" y="397764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r>
              <a:rPr lang="en-US" sz="16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medicos y </a:t>
            </a:r>
            <a:r>
              <a:rPr lang="en-US" sz="1600" dirty="0" err="1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</a:t>
            </a:r>
            <a:r>
              <a:rPr lang="en-US" sz="16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4960" y="4709160"/>
            <a:ext cx="1371600" cy="18288"/>
          </a:xfrm>
          <a:prstGeom prst="rect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1463040" y="48920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producto y venta para el equipo comercial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85455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optisave.app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es Optisave?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Optisave es un </a:t>
            </a:r>
            <a:r>
              <a:rPr lang="en-US" sz="1500" b="1" dirty="0">
                <a:solidFill>
                  <a:srgbClr val="004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</a:t>
            </a:r>
            <a:r>
              <a:rPr lang="en-US" sz="15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centraliza en una sola plataforma web todo lo que hoy un consultorio resuelve con papel, Excel, WhatsApp, agenda física y programas sueltos.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035040" cy="18288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¿PARA QUIÉN 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generales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39776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794760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Optometristas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4456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Podólogos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454456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79476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Ortodoncistas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11496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31520" y="51114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Care (bienestar / estética)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11880" y="5111496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794760" y="51114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 administrativa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1783080"/>
            <a:ext cx="4709160" cy="4343400"/>
          </a:xfrm>
          <a:prstGeom prst="roundRect">
            <a:avLst>
              <a:gd name="adj" fmla="val 168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0" descr="/home/claude/optisave/assets/pediatra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20240"/>
            <a:ext cx="4434840" cy="28620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78040" y="489204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contratar un ERP hospitalario ni armar un ecosistema de 5 apps distintas.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DOLOR DEL CLIENTE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Así opera hoy un consultorio sin Optisave</a:t>
            </a:r>
            <a:endParaRPr lang="en-US" sz="3000" dirty="0"/>
          </a:p>
        </p:txBody>
      </p:sp>
      <p:pic>
        <p:nvPicPr>
          <p:cNvPr id="4" name="Image 0" descr="/home/claude/optisave/assets/paper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212080" cy="3364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9379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777240" y="5212080"/>
            <a:ext cx="4754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libreta, receta a mano y hoja suelta es una fuente de errores, tiempo perdido y una imagen menos profesional frente al paciente.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08776" y="179222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1928287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Recepción satura de papel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903720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a mano, filas y errores de captura antes de cada consulta.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08776" y="284378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2979847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Expedientes dispersos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903720" y="3136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“¿Dónde quedó la receta de este paciente?” en cada visita de seguimiento.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08776" y="389534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3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4031407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Inasistencias sin control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903720" y="41879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manuales para recordar citas; pacientes que simplemente no llegan.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208776" y="494690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4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5082967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Cero datos para decidir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903720" y="52395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métricas de citas, pacientes o desempeño: se administra a intuición.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que se venden solas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86384" y="1956816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92" y="211482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con QR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se auto-registra desde su celular antes de entrar a consulta.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0832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608576" y="1956816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1" descr="/home/claude/optisave/assets/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584" y="211482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Documentos clínicos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6864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Recetas, constancias y formatos con un clic, alineados a NOM-024.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8430768" y="1956816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2" descr="/home/claude/optisave/assets/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776" y="211482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inteligente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día / semana / mes con reprogramación por arrastre (drag &amp; drop).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786384" y="4178808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1" name="Image 3" descr="/home/claude/optisave/asset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92" y="433681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1947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Directorio de pacientes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266944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tipo Excel: ordena, filtra, exporta e importa sin salir de Optisave.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70832" y="400507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19"/>
          <p:cNvSpPr/>
          <p:nvPr/>
        </p:nvSpPr>
        <p:spPr>
          <a:xfrm>
            <a:off x="4608576" y="4178808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6" name="Image 4" descr="/home/claude/optisave/assets/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584" y="4336816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491947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 por especialidad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26864" y="5266944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Optometría, podología, medicina general, ortodoncia y Care.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93024" y="400507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8430768" y="4178808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1" name="Image 5" descr="/home/claude/optisave/assets/icon_whats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8776" y="4336816"/>
            <a:ext cx="342351" cy="34235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Text 24"/>
          <p:cNvSpPr/>
          <p:nvPr/>
        </p:nvSpPr>
        <p:spPr>
          <a:xfrm>
            <a:off x="8449056" y="491947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Recordatorios WhatsApp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49056" y="5266944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 automáticos de cita que reducen inasistencias.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CONFIANZA Y CUMPLIMIENTO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 clínico auditable, alineado a NOM-024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consulta, diagnóstico, documento generado y edición queda </a:t>
            </a:r>
            <a:r>
              <a:rPr lang="en-US" sz="1500" b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 y es auditable en el tiempo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son archivos sueltos, es un expediente digital trazable.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profesional de la salud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6301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Optimza</a:t>
            </a:r>
            <a:r>
              <a:rPr lang="en-US" sz="1080" dirty="0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 el Tiempo de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atencion</a:t>
            </a:r>
            <a:r>
              <a:rPr lang="en-US" sz="1080" dirty="0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 al redactor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recetas</a:t>
            </a:r>
            <a:r>
              <a:rPr lang="en-US" sz="1080" dirty="0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 o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documentos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423367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77240" y="4325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clínica / consultorio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normativo local (p. ej. NOM-024), archivo y privacidad.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522122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7240" y="53126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 (software)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6052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Plantillas, autocompletado,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1228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DOCUMENTOS QUE GENERA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2450592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022592" y="23408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general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22592" y="26151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médico, consentimiento informado, documento libre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12280" y="3346704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022592" y="32369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Optometría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22592" y="351129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óptica, receta para paciente, orden de laboratorio, RX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12280" y="4242816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022592" y="41330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Podología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22592" y="44074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Valoración podológica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812280" y="5138928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022592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Ortodoncia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22592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Odontograma, plan de tratamiento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812280" y="5998464"/>
            <a:ext cx="4572000" cy="18288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812280" y="6126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firma y sello son apoyo visual; su validez depende de la práctica profesional y la regulación vigente.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CLÍNICA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sistema, varias especialidades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Pagas y activas solo el módulo que usas: no es un formulario genérico, son pantallas hechas para cada especialidad.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04672" y="22951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04672" y="2441448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Optometría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Refracción, recetas ópticas, órdenes de laboratorio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26864" y="22951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26864" y="2441448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Podología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26864" y="2862072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Valoraciones y seguimiento podológico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449056" y="22951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449056" y="2441448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general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49056" y="2862072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Certificados, consentimientos, documento libre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04672" y="42428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4672" y="43891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Ortodoncia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04672" y="4809744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Odontograma y plan de tratamiento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4005072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626864" y="42428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626864" y="43891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26864" y="4809744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Bienestar / estética: gestión de clientes y sesiones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93024" y="4005072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8449056" y="42428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8449056" y="43891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Próximamente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49056" y="4809744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Nutrición y Psicología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065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 Cloud vs. Optisave Desktop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45820" y="2034540"/>
            <a:ext cx="685800" cy="685800"/>
          </a:xfrm>
          <a:prstGeom prst="ellipse">
            <a:avLst/>
          </a:prstGeom>
          <a:solidFill>
            <a:srgbClr val="0049A8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1991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r>
              <a:rPr lang="en-US" sz="19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31729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web; suscripción en la nube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72160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3968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(proyecto web)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51713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4764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mensual o anual según módulos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" y="531266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PARA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55595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Consultorios con internet estable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6469380" y="2034540"/>
            <a:ext cx="685800" cy="685800"/>
          </a:xfrm>
          <a:prstGeom prst="ellipse">
            <a:avLst/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1" descr="/home/claude/optisave/assets/icon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199132"/>
            <a:ext cx="356616" cy="3566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0756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 Desktop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583680" y="29260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83680" y="31729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en Windows 10 / 11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83680" y="372160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83680" y="3968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local + respaldo en la nube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583680" y="451713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LICENCIA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0" y="4764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Adquisición; precio variable según cotización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83680" y="531266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PARA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83680" y="55595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limitada o preferencia local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comparten base de datos: son proyectos independientes. Migrar de uno a otro no es automático — defínelo con el cliente antes de vender.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FUNCIONES QUE RETIENEN AL CLIENTE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e inventario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58952" y="1975104"/>
            <a:ext cx="713232" cy="713232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146280"/>
            <a:ext cx="370881" cy="3708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283464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Incluido en licencia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3264408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Recordatorios de cita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813048"/>
            <a:ext cx="30540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consultorio vincula su WhatsApp (QR) y Optisave envía recordatorios automáticos que reducen inasistencias.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" y="5029200"/>
            <a:ext cx="3054096" cy="18288"/>
          </a:xfrm>
          <a:prstGeom prst="rect">
            <a:avLst/>
          </a:prstGeom>
          <a:solidFill>
            <a:srgbClr val="D6E2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04672" y="5148072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envío: 12:00–18:00 h (hora México). El uso del número vinculado es responsabilidad del cliente.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70832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581144" y="1975104"/>
            <a:ext cx="713232" cy="713232"/>
          </a:xfrm>
          <a:prstGeom prst="ellipse">
            <a:avLst/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home/claude/optisave/assets/icon_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320" y="2146280"/>
            <a:ext cx="370881" cy="37088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26864" y="283464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4626864" y="283464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 adicional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626864" y="3264408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 de citas por WhatsApp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26864" y="3813048"/>
            <a:ext cx="30540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conversacional que atiende y gestiona citas directo en la cuenta de WhatsApp del consultorio.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26864" y="5029200"/>
            <a:ext cx="3054096" cy="18288"/>
          </a:xfrm>
          <a:prstGeom prst="rect">
            <a:avLst/>
          </a:prstGeom>
          <a:solidFill>
            <a:srgbClr val="D6E2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4626864" y="5148072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incluido en la licencia base: requiere cotización y contrato aparte.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93024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8403336" y="1975104"/>
            <a:ext cx="713232" cy="713232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4" name="Image 2" descr="/home/claude/optisave/assets/icon_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512" y="2146280"/>
            <a:ext cx="370881" cy="370881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449056" y="283464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8449056" y="283464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Incluido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449056" y="3264408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49056" y="3813048"/>
            <a:ext cx="30540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stock de insumos, armazones o productos, ligado al consultorio dentro del panel.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449056" y="5029200"/>
            <a:ext cx="3054096" cy="18288"/>
          </a:xfrm>
          <a:prstGeom prst="rect">
            <a:avLst/>
          </a:prstGeom>
          <a:solidFill>
            <a:srgbClr val="D6E2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8449056" y="5148072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Entradas, salidas y niveles de stock desde /home/inventario.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ARGUMENTO DE VENTA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Beneficios que evolucionan con el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86384" y="2029968"/>
            <a:ext cx="658368" cy="65836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945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61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Corto plazo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0906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semanas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" y="35844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87552" y="347472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papel en recepción (registro por QR)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04672" y="420624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987552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visible para todo el equipo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04672" y="482803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987552" y="4718304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de pacientes sin abrir Excel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5449824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987552" y="5340096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en segundos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370832" y="18288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4608576" y="2029968"/>
            <a:ext cx="658368" cy="65836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1" descr="/home/claude/optisave/assets/icon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9456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26864" y="2761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Mediano plazo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626864" y="30906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1–6 meses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26864" y="35844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4809744" y="347472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 unificado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4626864" y="420624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4809744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inasistencias (recordatorios WhatsApp)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4626864" y="482803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4809744" y="4718304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integrado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626864" y="5449824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4809744" y="5340096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operativa del consultorio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8193024" y="18288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7"/>
          <p:cNvSpPr/>
          <p:nvPr/>
        </p:nvSpPr>
        <p:spPr>
          <a:xfrm>
            <a:off x="8430768" y="2029968"/>
            <a:ext cx="658368" cy="65836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2" name="Image 2" descr="/home/claude/optisave/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94560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49056" y="2761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Largo plazo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8449056" y="30906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meses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449056" y="35844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8631936" y="347472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1 consultorio a varias sedes</a:t>
            </a:r>
            <a:endParaRPr lang="en-US" sz="1080" dirty="0"/>
          </a:p>
        </p:txBody>
      </p:sp>
      <p:sp>
        <p:nvSpPr>
          <p:cNvPr id="37" name="Shape 32"/>
          <p:cNvSpPr/>
          <p:nvPr/>
        </p:nvSpPr>
        <p:spPr>
          <a:xfrm>
            <a:off x="8449056" y="420624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3"/>
          <p:cNvSpPr/>
          <p:nvPr/>
        </p:nvSpPr>
        <p:spPr>
          <a:xfrm>
            <a:off x="8631936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profesional ante el paciente</a:t>
            </a:r>
            <a:endParaRPr lang="en-US" sz="1080" dirty="0"/>
          </a:p>
        </p:txBody>
      </p:sp>
      <p:sp>
        <p:nvSpPr>
          <p:cNvPr id="39" name="Shape 34"/>
          <p:cNvSpPr/>
          <p:nvPr/>
        </p:nvSpPr>
        <p:spPr>
          <a:xfrm>
            <a:off x="8449056" y="482803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5"/>
          <p:cNvSpPr/>
          <p:nvPr/>
        </p:nvSpPr>
        <p:spPr>
          <a:xfrm>
            <a:off x="8631936" y="4718304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dependencia de personal administrativo</a:t>
            </a:r>
            <a:endParaRPr lang="en-US" sz="1080" dirty="0"/>
          </a:p>
        </p:txBody>
      </p:sp>
      <p:sp>
        <p:nvSpPr>
          <p:cNvPr id="41" name="Shape 36"/>
          <p:cNvSpPr/>
          <p:nvPr/>
        </p:nvSpPr>
        <p:spPr>
          <a:xfrm>
            <a:off x="8449056" y="5449824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37"/>
          <p:cNvSpPr/>
          <p:nvPr/>
        </p:nvSpPr>
        <p:spPr>
          <a:xfrm>
            <a:off x="8631936" y="5340096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propia y aislada (RLS)</a:t>
            </a:r>
            <a:endParaRPr lang="en-US" sz="1080" dirty="0"/>
          </a:p>
        </p:txBody>
      </p:sp>
      <p:sp>
        <p:nvSpPr>
          <p:cNvPr id="43" name="Text 3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GUION PARA EL EQUIPO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se vende Optisave?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siempre por el dolor operativo del consultorio, no por la lista de funciones. La demo confirma lo que la conversación ya vendió.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95528" y="2377440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/home/claude/optisave/assets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5191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3969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Diagnostica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508760" y="243230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“¿Cómo agenda hoy? ¿Dónde guarda el expediente? ¿Cuántas citas se pierden al mes?” Deja que el prospecto describa su propio caos.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172200" y="20116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6419088" y="2377440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1" descr="/home/claude/optisave/assets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51917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3969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Conecta el dolor con el módulo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32320" y="243230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en recepción → QR. Agenda de libreta → vista día/semana/mes. Inasistencias → recordatorios WhatsApp.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45643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795528" y="3822192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2" descr="/home/claude/optisave/assets/icon_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963924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5844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Vende por especialidad, no por sistema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508760" y="3877056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“Esto no es un ERP genérico, son pantallas hechas para optometría / podología / tu especialidad.”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172200" y="345643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419088" y="3822192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3" descr="/home/claude/optisave/assets/icon_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963924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5844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Ancla el plan al tamaño real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132320" y="3877056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consultorio: Cloud por módulo. Conectividad limitada o control local: Desktop, con cotización a la medida.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90118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795528" y="5266944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7" name="Image 4" descr="/home/claude/optisave/assets/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408676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0292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Cierra con confianza normativa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508760" y="53218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auditable alineado a NOM-024 y aislamiento de datos por consultorio (RLS): argumento clave frente a la competencia en papel.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6172200" y="490118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6419088" y="5266944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2" name="Image 5" descr="/home/claude/optisave/assets/icon_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820" y="5408676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0" y="50292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Deja la puerta abierta a crecer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132320" y="53218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 citas por WhatsApp e inventario avanzado como upsell natural una vez que el cliente ya confía en el sistema.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Objeciones frecuentes y cómo responderlas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estas limitaciones antes que el cliente las pregunte genera confianza y evita cancelaciones post-venta.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“¿Emite factura fiscal (CFDI) de mis ingresos?”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Optisave gestiona la suscripción del software vía Stripe; no es un sistema de facturación fiscal para los ingresos del consultorio.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“¿Los recordatorios de WhatsApp son ilimitados y garantizados?”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envían en ventana de 12:00 a 18:00 h y Optisave no responde por el uso indebido del número vinculado del cliente.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7240" y="3502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“¿Puedo migrar de Desktop a Cloud sin problema?”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8679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proyectos de base de datos independientes; la migración no es automática y debe planearse.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72200" y="341071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0" y="3502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“¿Hay app en la tienda de Android / iOS?”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38679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web app responsiva accesible desde cualquier navegador; no hay app nativa en tiendas.la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para la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exposicion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internet para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77240" y="49469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“¿Cumple automáticamente con la ley?”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531266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Optisave implementa prácticas alineadas a NOM-024 (trazabilidad, registro, auditoría); el cumplimiento legal final sigue siendo responsabilidad del consultorio.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172200" y="485546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400800" y="49469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“¿Sirve para una clínica con miles de pacientes?”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531266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citas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ilimitadas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PROYECCIÓN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qué Optisave puede ganar este mercado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20–25%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gasto en salud se va en costos administrativos que la digitalización puede reducir (Penn LDI, 2025).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25786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directivos del sector espera que los sistemas integrados impulsen la rentabilidad este año (Deloitte Health Care Outlook 2025).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458200" y="1874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de 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58200" y="25786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ya buscan información médica en línea antes de decidir dónde atenderse.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" y="3803904"/>
            <a:ext cx="566928" cy="56692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0" descr="/home/claude/optisave/assets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945636"/>
            <a:ext cx="283464" cy="2834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7947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Digitalización ya no es opcional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40965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Nuevas exigencias regulatorias y de eficiencia empujan a consultorios pequeños que antes solo usaban papel.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" y="4572000"/>
            <a:ext cx="566928" cy="56692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1" descr="/home/claude/optisave/asset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713732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456285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Nicho desatendido: el consultorio pequeño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71600" y="48646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ERP hospitalarios sobran para 1 doctor; Optisave nace para ese segmento específico, sin sobre-ingeniería.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0936" y="5340096"/>
            <a:ext cx="566928" cy="56692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/home/claude/optisave/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548182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53309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modular y recurrente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71600" y="563270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recurrente por licencia + expansión natural vía módulos, sedes y servicios adicionales (bot WhatsApp).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RESPALDO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pensada para escalar y proteger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06040" y="17830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React, Tailwind CSS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/ BD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3500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(PostgreSQL, Auth, Storage, Realtime)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169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PAGOS SAAS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29169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348386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40507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multi-tenant con Row Level Security (RLS)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46177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Propietario, administrador, doctor, recepcionista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4343400"/>
          </a:xfrm>
          <a:prstGeom prst="roundRect">
            <a:avLst>
              <a:gd name="adj" fmla="val 1895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835140" y="2034540"/>
            <a:ext cx="777240" cy="777240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0" descr="/home/claude/optisave/asset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2228850"/>
            <a:ext cx="388620" cy="3886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0" y="2121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privacidad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858000" y="313639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7059168" y="30266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con Supabase, MFA soportado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58000" y="370332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7059168" y="35935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de datos por cuenta/consultorio vía RLS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58000" y="42702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7059168" y="4160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privadas excluidas de indexación pública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858000" y="4837176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7059168" y="47274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sobre Supabase, Vercel y Stripe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6400800" cy="6400800"/>
          </a:xfrm>
          <a:prstGeom prst="ellipse">
            <a:avLst/>
          </a:prstGeom>
          <a:solidFill>
            <a:srgbClr val="0049A8">
              <a:alpha val="2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686800" y="3840480"/>
            <a:ext cx="5943600" cy="5943600"/>
          </a:xfrm>
          <a:prstGeom prst="ellipse">
            <a:avLst/>
          </a:prstGeom>
          <a:solidFill>
            <a:srgbClr val="97D5FC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optisave/assets/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7772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231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papel, más consultas.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011680" y="3246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consultorio que hoy trabaja con papel y WhatsApp suelto es una oportunidad de venta abierta.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440180" y="4046220"/>
            <a:ext cx="777240" cy="7772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/home/claude/optisave/assets/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0" y="4240530"/>
            <a:ext cx="388620" cy="388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5193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el dolor operativo del prospecto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32020" y="4046220"/>
            <a:ext cx="777240" cy="7772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/home/claude/optisave/assets/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330" y="424053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Propón el módulo correcto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0" y="5193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 Desktop, según su realidad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23860" y="4046220"/>
            <a:ext cx="777240" cy="7772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3" descr="/home/claude/optisave/assets/icon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170" y="424053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Cierra con confianza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863840" y="5193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NOM-024, RLS y soporte en español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1565</Words>
  <Application>Microsoft Office PowerPoint</Application>
  <PresentationFormat>Panorámica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Optisave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Optisave</dc:creator>
  <cp:lastModifiedBy>Diana Noemí Hernandez de Leon</cp:lastModifiedBy>
  <cp:revision>2</cp:revision>
  <dcterms:created xsi:type="dcterms:W3CDTF">2026-07-24T18:06:37Z</dcterms:created>
  <dcterms:modified xsi:type="dcterms:W3CDTF">2026-07-24T18:25:54Z</dcterms:modified>
</cp:coreProperties>
</file>