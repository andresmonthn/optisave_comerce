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67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371685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7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4.png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F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-2377440"/>
            <a:ext cx="6858000" cy="6858000"/>
          </a:xfrm>
          <a:prstGeom prst="ellipse">
            <a:avLst/>
          </a:prstGeom>
          <a:solidFill>
            <a:srgbClr val="0049A8">
              <a:alpha val="22000"/>
            </a:srgb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-2377440" y="4206240"/>
            <a:ext cx="5943600" cy="5943600"/>
          </a:xfrm>
          <a:prstGeom prst="ellipse">
            <a:avLst/>
          </a:prstGeom>
          <a:solidFill>
            <a:srgbClr val="97D5FC">
              <a:alpha val="12000"/>
            </a:srgbClr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4" name="Image 0" descr="/home/claude/optisave/assets/logo_no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8928" y="1051560"/>
            <a:ext cx="1920240" cy="19202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0" y="3063240"/>
            <a:ext cx="1219169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kern="0" spc="300" dirty="0" err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Optisave</a:t>
            </a:r>
            <a:r>
              <a:rPr lang="en-US" sz="5400" b="1" kern="0" spc="3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app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1463040" y="3977640"/>
            <a:ext cx="9235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7D5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600" dirty="0" err="1">
                <a:solidFill>
                  <a:srgbClr val="97D5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Hecho</a:t>
            </a:r>
            <a:r>
              <a:rPr lang="en-US" sz="1600" dirty="0">
                <a:solidFill>
                  <a:srgbClr val="97D5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para medicos y </a:t>
            </a:r>
            <a:r>
              <a:rPr lang="en-US" sz="1600" dirty="0" err="1">
                <a:solidFill>
                  <a:srgbClr val="97D5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especialistas</a:t>
            </a:r>
            <a:r>
              <a:rPr lang="en-US" sz="1600" dirty="0">
                <a:solidFill>
                  <a:srgbClr val="97D5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394960" y="4709160"/>
            <a:ext cx="1371600" cy="18288"/>
          </a:xfrm>
          <a:prstGeom prst="rect">
            <a:avLst/>
          </a:prstGeom>
          <a:solidFill>
            <a:srgbClr val="97D5FC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8" name="Text 5"/>
          <p:cNvSpPr/>
          <p:nvPr/>
        </p:nvSpPr>
        <p:spPr>
          <a:xfrm>
            <a:off x="1463040" y="4892040"/>
            <a:ext cx="9235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C9D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Guía de producto y venta para el equipo comercial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8640" y="6309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C9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Julio 2026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985455" y="6309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9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optisave.app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49A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 PRODUCTO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F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¿Qué es Optisave?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60350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72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Optisave es un </a:t>
            </a:r>
            <a:r>
              <a:rPr lang="en-US" sz="1500" b="1" dirty="0">
                <a:solidFill>
                  <a:srgbClr val="0049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</a:t>
            </a:r>
            <a:r>
              <a:rPr lang="en-US" sz="1500" dirty="0">
                <a:solidFill>
                  <a:srgbClr val="172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que centraliza en una sola plataforma web todo lo que hoy un consultorio resuelve con papel, Excel, WhatsApp, agenda física y programas sueltos.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3429000"/>
            <a:ext cx="6035040" cy="18288"/>
          </a:xfrm>
          <a:prstGeom prst="rect">
            <a:avLst/>
          </a:prstGeom>
          <a:solidFill>
            <a:srgbClr val="DCE6F5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/>
          <p:nvPr/>
        </p:nvSpPr>
        <p:spPr>
          <a:xfrm>
            <a:off x="548640" y="3611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049A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¿PARA QUIÉN ES?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3977640"/>
            <a:ext cx="2880360" cy="457200"/>
          </a:xfrm>
          <a:prstGeom prst="roundRect">
            <a:avLst>
              <a:gd name="adj" fmla="val 16000"/>
            </a:avLst>
          </a:prstGeom>
          <a:solidFill>
            <a:srgbClr val="E4F3F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/>
          <p:nvPr/>
        </p:nvSpPr>
        <p:spPr>
          <a:xfrm>
            <a:off x="731520" y="397764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2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Médicos generales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611880" y="3977640"/>
            <a:ext cx="2880360" cy="457200"/>
          </a:xfrm>
          <a:prstGeom prst="roundRect">
            <a:avLst>
              <a:gd name="adj" fmla="val 16000"/>
            </a:avLst>
          </a:prstGeom>
          <a:solidFill>
            <a:srgbClr val="E4F3F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3794760" y="397764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2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Optometristas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4544568"/>
            <a:ext cx="2880360" cy="457200"/>
          </a:xfrm>
          <a:prstGeom prst="roundRect">
            <a:avLst>
              <a:gd name="adj" fmla="val 16000"/>
            </a:avLst>
          </a:prstGeom>
          <a:solidFill>
            <a:srgbClr val="E4F3F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2" name="Text 10"/>
          <p:cNvSpPr/>
          <p:nvPr/>
        </p:nvSpPr>
        <p:spPr>
          <a:xfrm>
            <a:off x="731520" y="4544568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2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Podólogos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611880" y="4544568"/>
            <a:ext cx="2880360" cy="457200"/>
          </a:xfrm>
          <a:prstGeom prst="roundRect">
            <a:avLst>
              <a:gd name="adj" fmla="val 16000"/>
            </a:avLst>
          </a:prstGeom>
          <a:solidFill>
            <a:srgbClr val="E4F3F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4" name="Text 12"/>
          <p:cNvSpPr/>
          <p:nvPr/>
        </p:nvSpPr>
        <p:spPr>
          <a:xfrm>
            <a:off x="3794760" y="4544568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2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Ortodoncistas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5111496"/>
            <a:ext cx="2880360" cy="457200"/>
          </a:xfrm>
          <a:prstGeom prst="roundRect">
            <a:avLst>
              <a:gd name="adj" fmla="val 16000"/>
            </a:avLst>
          </a:prstGeom>
          <a:solidFill>
            <a:srgbClr val="E4F3F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6" name="Text 14"/>
          <p:cNvSpPr/>
          <p:nvPr/>
        </p:nvSpPr>
        <p:spPr>
          <a:xfrm>
            <a:off x="731520" y="5111496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2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Especialistas Care (bienestar / estética)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611880" y="5111496"/>
            <a:ext cx="2880360" cy="457200"/>
          </a:xfrm>
          <a:prstGeom prst="roundRect">
            <a:avLst>
              <a:gd name="adj" fmla="val 16000"/>
            </a:avLst>
          </a:prstGeom>
          <a:solidFill>
            <a:srgbClr val="E4F3F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8" name="Text 16"/>
          <p:cNvSpPr/>
          <p:nvPr/>
        </p:nvSpPr>
        <p:spPr>
          <a:xfrm>
            <a:off x="3794760" y="5111496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2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Recepción administrativa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949440" y="1783080"/>
            <a:ext cx="4709160" cy="4343400"/>
          </a:xfrm>
          <a:prstGeom prst="roundRect">
            <a:avLst>
              <a:gd name="adj" fmla="val 1684"/>
            </a:avLst>
          </a:prstGeom>
          <a:solidFill>
            <a:srgbClr val="E4F3FE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20" name="Image 0" descr="/home/claude/optisave/assets/pediatra_lapt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1920240"/>
            <a:ext cx="4434840" cy="2862072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7178040" y="4892040"/>
            <a:ext cx="4251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5B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contratar un ERP hospitalario ni armar un ecosistema de 5 apps distintas.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5B6B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OPTISAVE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8991295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14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49A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 DOLOR DEL CLIENTE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F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Así opera hoy un consultorio sin Optisave</a:t>
            </a:r>
            <a:endParaRPr lang="en-US" sz="3000" dirty="0"/>
          </a:p>
        </p:txBody>
      </p:sp>
      <p:pic>
        <p:nvPicPr>
          <p:cNvPr id="4" name="Image 0" descr="/home/claude/optisave/assets/paper_befo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83080"/>
            <a:ext cx="5212080" cy="336499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5193792"/>
            <a:ext cx="5212080" cy="914400"/>
          </a:xfrm>
          <a:prstGeom prst="roundRect">
            <a:avLst>
              <a:gd name="adj" fmla="val 6000"/>
            </a:avLst>
          </a:prstGeom>
          <a:solidFill>
            <a:srgbClr val="0B2F6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6" name="Text 3"/>
          <p:cNvSpPr/>
          <p:nvPr/>
        </p:nvSpPr>
        <p:spPr>
          <a:xfrm>
            <a:off x="777240" y="5212080"/>
            <a:ext cx="475488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libreta, receta a mano y hoja suelta es una fuente de errores, tiempo perdido y una imagen menos profesional frente al paciente.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6208776" y="1792224"/>
            <a:ext cx="566928" cy="566928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8" name="Image 1" descr="/home/claude/optisave/assets/icon_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4839" y="1928287"/>
            <a:ext cx="294803" cy="29480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903720" y="178308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2F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Recepción satura de papel</a:t>
            </a:r>
            <a:endParaRPr lang="en-US" sz="1450" dirty="0"/>
          </a:p>
        </p:txBody>
      </p:sp>
      <p:sp>
        <p:nvSpPr>
          <p:cNvPr id="10" name="Text 6"/>
          <p:cNvSpPr/>
          <p:nvPr/>
        </p:nvSpPr>
        <p:spPr>
          <a:xfrm>
            <a:off x="6903720" y="2084832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Formularios a mano, filas y errores de captura antes de cada consulta.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6208776" y="2843784"/>
            <a:ext cx="566928" cy="566928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12" name="Image 2" descr="/home/claude/optisave/assets/icon_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4839" y="2979847"/>
            <a:ext cx="294803" cy="294803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903720" y="283464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2F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Expedientes dispersos</a:t>
            </a:r>
            <a:endParaRPr lang="en-US" sz="1450" dirty="0"/>
          </a:p>
        </p:txBody>
      </p:sp>
      <p:sp>
        <p:nvSpPr>
          <p:cNvPr id="14" name="Text 9"/>
          <p:cNvSpPr/>
          <p:nvPr/>
        </p:nvSpPr>
        <p:spPr>
          <a:xfrm>
            <a:off x="6903720" y="3136392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“¿Dónde quedó la receta de este paciente?” en cada visita de seguimiento.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6208776" y="3895344"/>
            <a:ext cx="566928" cy="566928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16" name="Image 3" descr="/home/claude/optisave/assets/icon_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4839" y="4031407"/>
            <a:ext cx="294803" cy="294803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903720" y="38862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2F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Inasistencias sin control</a:t>
            </a:r>
            <a:endParaRPr lang="en-US" sz="1450" dirty="0"/>
          </a:p>
        </p:txBody>
      </p:sp>
      <p:sp>
        <p:nvSpPr>
          <p:cNvPr id="18" name="Text 12"/>
          <p:cNvSpPr/>
          <p:nvPr/>
        </p:nvSpPr>
        <p:spPr>
          <a:xfrm>
            <a:off x="6903720" y="4187952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Llamadas manuales para recordar citas; pacientes que simplemente no llegan.</a:t>
            </a:r>
            <a:endParaRPr lang="en-US" sz="1150" dirty="0"/>
          </a:p>
        </p:txBody>
      </p:sp>
      <p:sp>
        <p:nvSpPr>
          <p:cNvPr id="19" name="Shape 13"/>
          <p:cNvSpPr/>
          <p:nvPr/>
        </p:nvSpPr>
        <p:spPr>
          <a:xfrm>
            <a:off x="6208776" y="4946904"/>
            <a:ext cx="566928" cy="566928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20" name="Image 4" descr="/home/claude/optisave/assets/icon_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4839" y="5082967"/>
            <a:ext cx="294803" cy="294803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6903720" y="49377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2F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Cero datos para decidir</a:t>
            </a:r>
            <a:endParaRPr lang="en-US" sz="1450" dirty="0"/>
          </a:p>
        </p:txBody>
      </p:sp>
      <p:sp>
        <p:nvSpPr>
          <p:cNvPr id="22" name="Text 15"/>
          <p:cNvSpPr/>
          <p:nvPr/>
        </p:nvSpPr>
        <p:spPr>
          <a:xfrm>
            <a:off x="6903720" y="5239512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métricas de citas, pacientes o desempeño: se administra a intuición.</a:t>
            </a:r>
            <a:endParaRPr lang="en-US" sz="1150" dirty="0"/>
          </a:p>
        </p:txBody>
      </p:sp>
      <p:sp>
        <p:nvSpPr>
          <p:cNvPr id="23" name="Text 16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5B6B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OPTISAVE</a:t>
            </a:r>
            <a:endParaRPr lang="en-US" sz="900" dirty="0"/>
          </a:p>
        </p:txBody>
      </p:sp>
      <p:sp>
        <p:nvSpPr>
          <p:cNvPr id="24" name="Text 17"/>
          <p:cNvSpPr/>
          <p:nvPr/>
        </p:nvSpPr>
        <p:spPr>
          <a:xfrm>
            <a:off x="8991295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14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49A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 SOLUCIÓN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F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Funcionalidades que se venden solas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66160" cy="1965960"/>
          </a:xfrm>
          <a:prstGeom prst="roundRect">
            <a:avLst>
              <a:gd name="adj" fmla="val 4186"/>
            </a:avLst>
          </a:prstGeom>
          <a:solidFill>
            <a:srgbClr val="E4F3F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5" name="Shape 3"/>
          <p:cNvSpPr/>
          <p:nvPr/>
        </p:nvSpPr>
        <p:spPr>
          <a:xfrm>
            <a:off x="786384" y="1956816"/>
            <a:ext cx="658368" cy="658368"/>
          </a:xfrm>
          <a:prstGeom prst="ellipse">
            <a:avLst/>
          </a:prstGeom>
          <a:solidFill>
            <a:srgbClr val="0049A8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6" name="Image 0" descr="/home/claude/optisave/assets/icon_q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392" y="2114824"/>
            <a:ext cx="342351" cy="34235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2697480"/>
            <a:ext cx="30540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2F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Registro con QR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04672" y="3044952"/>
            <a:ext cx="30540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B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paciente se auto-registra desde su celular antes de entrar a consulta.</a:t>
            </a:r>
            <a:endParaRPr lang="en-US" sz="1080" dirty="0"/>
          </a:p>
        </p:txBody>
      </p:sp>
      <p:sp>
        <p:nvSpPr>
          <p:cNvPr id="9" name="Shape 6"/>
          <p:cNvSpPr/>
          <p:nvPr/>
        </p:nvSpPr>
        <p:spPr>
          <a:xfrm>
            <a:off x="4370832" y="1783080"/>
            <a:ext cx="3566160" cy="1965960"/>
          </a:xfrm>
          <a:prstGeom prst="roundRect">
            <a:avLst>
              <a:gd name="adj" fmla="val 4186"/>
            </a:avLst>
          </a:prstGeom>
          <a:solidFill>
            <a:srgbClr val="E4F3F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0" name="Shape 7"/>
          <p:cNvSpPr/>
          <p:nvPr/>
        </p:nvSpPr>
        <p:spPr>
          <a:xfrm>
            <a:off x="4608576" y="1956816"/>
            <a:ext cx="658368" cy="658368"/>
          </a:xfrm>
          <a:prstGeom prst="ellipse">
            <a:avLst/>
          </a:prstGeom>
          <a:solidFill>
            <a:srgbClr val="0049A8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11" name="Image 1" descr="/home/claude/optisave/assets/icon_fi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6584" y="2114824"/>
            <a:ext cx="342351" cy="34235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26864" y="2697480"/>
            <a:ext cx="30540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2F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Documentos clínicos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626864" y="3044952"/>
            <a:ext cx="30540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B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Recetas, constancias y formatos con un clic, alineados a NOM-024.</a:t>
            </a:r>
            <a:endParaRPr lang="en-US" sz="1080" dirty="0"/>
          </a:p>
        </p:txBody>
      </p:sp>
      <p:sp>
        <p:nvSpPr>
          <p:cNvPr id="14" name="Shape 10"/>
          <p:cNvSpPr/>
          <p:nvPr/>
        </p:nvSpPr>
        <p:spPr>
          <a:xfrm>
            <a:off x="8193024" y="1783080"/>
            <a:ext cx="3566160" cy="1965960"/>
          </a:xfrm>
          <a:prstGeom prst="roundRect">
            <a:avLst>
              <a:gd name="adj" fmla="val 4186"/>
            </a:avLst>
          </a:prstGeom>
          <a:solidFill>
            <a:srgbClr val="E4F3F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5" name="Shape 11"/>
          <p:cNvSpPr/>
          <p:nvPr/>
        </p:nvSpPr>
        <p:spPr>
          <a:xfrm>
            <a:off x="8430768" y="1956816"/>
            <a:ext cx="658368" cy="658368"/>
          </a:xfrm>
          <a:prstGeom prst="ellipse">
            <a:avLst/>
          </a:prstGeom>
          <a:solidFill>
            <a:srgbClr val="0049A8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16" name="Image 2" descr="/home/claude/optisave/assets/icon_calenda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88776" y="2114824"/>
            <a:ext cx="342351" cy="34235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49056" y="2697480"/>
            <a:ext cx="30540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2F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Agenda inteligente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449056" y="3044952"/>
            <a:ext cx="30540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B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Vistas día / semana / mes con reprogramación por arrastre (drag &amp; drop).</a:t>
            </a:r>
            <a:endParaRPr lang="en-US" sz="1080" dirty="0"/>
          </a:p>
        </p:txBody>
      </p:sp>
      <p:sp>
        <p:nvSpPr>
          <p:cNvPr id="19" name="Shape 14"/>
          <p:cNvSpPr/>
          <p:nvPr/>
        </p:nvSpPr>
        <p:spPr>
          <a:xfrm>
            <a:off x="548640" y="4005072"/>
            <a:ext cx="3566160" cy="1965960"/>
          </a:xfrm>
          <a:prstGeom prst="roundRect">
            <a:avLst>
              <a:gd name="adj" fmla="val 4186"/>
            </a:avLst>
          </a:prstGeom>
          <a:solidFill>
            <a:srgbClr val="E4F3F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0" name="Shape 15"/>
          <p:cNvSpPr/>
          <p:nvPr/>
        </p:nvSpPr>
        <p:spPr>
          <a:xfrm>
            <a:off x="786384" y="4178808"/>
            <a:ext cx="658368" cy="658368"/>
          </a:xfrm>
          <a:prstGeom prst="ellipse">
            <a:avLst/>
          </a:prstGeom>
          <a:solidFill>
            <a:srgbClr val="0049A8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21" name="Image 3" descr="/home/claude/optisave/assets/icon_user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4392" y="4336816"/>
            <a:ext cx="342351" cy="34235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04672" y="4919472"/>
            <a:ext cx="30540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2F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Directorio de pacientes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804672" y="5266944"/>
            <a:ext cx="30540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B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Tabla tipo Excel: ordena, filtra, exporta e importa sin salir de Optisave.</a:t>
            </a:r>
            <a:endParaRPr lang="en-US" sz="1080" dirty="0"/>
          </a:p>
        </p:txBody>
      </p:sp>
      <p:sp>
        <p:nvSpPr>
          <p:cNvPr id="24" name="Shape 18"/>
          <p:cNvSpPr/>
          <p:nvPr/>
        </p:nvSpPr>
        <p:spPr>
          <a:xfrm>
            <a:off x="4370832" y="4005072"/>
            <a:ext cx="3566160" cy="1965960"/>
          </a:xfrm>
          <a:prstGeom prst="roundRect">
            <a:avLst>
              <a:gd name="adj" fmla="val 4186"/>
            </a:avLst>
          </a:prstGeom>
          <a:solidFill>
            <a:srgbClr val="E4F3F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5" name="Shape 19"/>
          <p:cNvSpPr/>
          <p:nvPr/>
        </p:nvSpPr>
        <p:spPr>
          <a:xfrm>
            <a:off x="4608576" y="4178808"/>
            <a:ext cx="658368" cy="658368"/>
          </a:xfrm>
          <a:prstGeom prst="ellipse">
            <a:avLst/>
          </a:prstGeom>
          <a:solidFill>
            <a:srgbClr val="0049A8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26" name="Image 4" descr="/home/claude/optisave/assets/icon_layer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66584" y="4336816"/>
            <a:ext cx="342351" cy="342351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626864" y="4919472"/>
            <a:ext cx="30540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2F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Módulos por especialidad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4626864" y="5266944"/>
            <a:ext cx="30540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B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Optometría, podología, medicina general, ortodoncia y Care.</a:t>
            </a:r>
            <a:endParaRPr lang="en-US" sz="1080" dirty="0"/>
          </a:p>
        </p:txBody>
      </p:sp>
      <p:sp>
        <p:nvSpPr>
          <p:cNvPr id="29" name="Shape 22"/>
          <p:cNvSpPr/>
          <p:nvPr/>
        </p:nvSpPr>
        <p:spPr>
          <a:xfrm>
            <a:off x="8193024" y="4005072"/>
            <a:ext cx="3566160" cy="1965960"/>
          </a:xfrm>
          <a:prstGeom prst="roundRect">
            <a:avLst>
              <a:gd name="adj" fmla="val 4186"/>
            </a:avLst>
          </a:prstGeom>
          <a:solidFill>
            <a:srgbClr val="E4F3F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0" name="Shape 23"/>
          <p:cNvSpPr/>
          <p:nvPr/>
        </p:nvSpPr>
        <p:spPr>
          <a:xfrm>
            <a:off x="8430768" y="4178808"/>
            <a:ext cx="658368" cy="658368"/>
          </a:xfrm>
          <a:prstGeom prst="ellipse">
            <a:avLst/>
          </a:prstGeom>
          <a:solidFill>
            <a:srgbClr val="0049A8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31" name="Image 5" descr="/home/claude/optisave/assets/icon_whatsap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88776" y="4336816"/>
            <a:ext cx="342351" cy="342351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32" name="Text 24"/>
          <p:cNvSpPr/>
          <p:nvPr/>
        </p:nvSpPr>
        <p:spPr>
          <a:xfrm>
            <a:off x="8449056" y="4919472"/>
            <a:ext cx="30540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2F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Recordatorios WhatsApp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8449056" y="5266944"/>
            <a:ext cx="30540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B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Recordatorios automáticos de cita que reducen inasistencias.</a:t>
            </a:r>
            <a:endParaRPr lang="en-US" sz="1080" dirty="0"/>
          </a:p>
        </p:txBody>
      </p:sp>
      <p:sp>
        <p:nvSpPr>
          <p:cNvPr id="34" name="Text 26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5B6B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OPTISAVE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8991295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14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2F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97D5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CONFIANZA Y CUMPLIMIENTO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Expediente clínico auditable, alineado a NOM-024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5577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consulta, diagnóstico, documento generado y edición queda </a:t>
            </a:r>
            <a:r>
              <a:rPr lang="en-US" sz="1500" b="1" dirty="0">
                <a:solidFill>
                  <a:srgbClr val="97D5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registrado y es auditable en el tiempo</a:t>
            </a: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no son archivos sueltos, es un expediente digital trazable.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3246120"/>
            <a:ext cx="5577840" cy="841248"/>
          </a:xfrm>
          <a:prstGeom prst="roundRect">
            <a:avLst>
              <a:gd name="adj" fmla="val 6522"/>
            </a:avLst>
          </a:prstGeom>
          <a:solidFill>
            <a:srgbClr val="0F3E8C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/>
          <p:nvPr/>
        </p:nvSpPr>
        <p:spPr>
          <a:xfrm>
            <a:off x="777240" y="3337560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97D5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 profesional de la salud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77240" y="3630168"/>
            <a:ext cx="5120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80" dirty="0" err="1">
                <a:solidFill>
                  <a:srgbClr val="D7E7FA"/>
                </a:solidFill>
                <a:latin typeface="Arial" pitchFamily="34" charset="0"/>
                <a:cs typeface="Arial" pitchFamily="34" charset="-120"/>
              </a:rPr>
              <a:t>Optimza</a:t>
            </a:r>
            <a:r>
              <a:rPr lang="en-US" sz="1080" dirty="0">
                <a:solidFill>
                  <a:srgbClr val="D7E7FA"/>
                </a:solidFill>
                <a:latin typeface="Arial" pitchFamily="34" charset="0"/>
                <a:cs typeface="Arial" pitchFamily="34" charset="-120"/>
              </a:rPr>
              <a:t> el Tiempo de </a:t>
            </a:r>
            <a:r>
              <a:rPr lang="en-US" sz="1080" dirty="0" err="1">
                <a:solidFill>
                  <a:srgbClr val="D7E7FA"/>
                </a:solidFill>
                <a:latin typeface="Arial" pitchFamily="34" charset="0"/>
                <a:cs typeface="Arial" pitchFamily="34" charset="-120"/>
              </a:rPr>
              <a:t>atencion</a:t>
            </a:r>
            <a:r>
              <a:rPr lang="en-US" sz="1080" dirty="0">
                <a:solidFill>
                  <a:srgbClr val="D7E7FA"/>
                </a:solidFill>
                <a:latin typeface="Arial" pitchFamily="34" charset="0"/>
                <a:cs typeface="Arial" pitchFamily="34" charset="-120"/>
              </a:rPr>
              <a:t> al redactor </a:t>
            </a:r>
            <a:r>
              <a:rPr lang="en-US" sz="1080" dirty="0" err="1">
                <a:solidFill>
                  <a:srgbClr val="D7E7FA"/>
                </a:solidFill>
                <a:latin typeface="Arial" pitchFamily="34" charset="0"/>
                <a:cs typeface="Arial" pitchFamily="34" charset="-120"/>
              </a:rPr>
              <a:t>recetas</a:t>
            </a:r>
            <a:r>
              <a:rPr lang="en-US" sz="1080" dirty="0">
                <a:solidFill>
                  <a:srgbClr val="D7E7FA"/>
                </a:solidFill>
                <a:latin typeface="Arial" pitchFamily="34" charset="0"/>
                <a:cs typeface="Arial" pitchFamily="34" charset="-120"/>
              </a:rPr>
              <a:t> o </a:t>
            </a:r>
            <a:r>
              <a:rPr lang="en-US" sz="1080" dirty="0" err="1">
                <a:solidFill>
                  <a:srgbClr val="D7E7FA"/>
                </a:solidFill>
                <a:latin typeface="Arial" pitchFamily="34" charset="0"/>
                <a:cs typeface="Arial" pitchFamily="34" charset="-120"/>
              </a:rPr>
              <a:t>documentos</a:t>
            </a:r>
            <a:endParaRPr lang="en-US" sz="1080" dirty="0"/>
          </a:p>
        </p:txBody>
      </p:sp>
      <p:sp>
        <p:nvSpPr>
          <p:cNvPr id="8" name="Shape 6"/>
          <p:cNvSpPr/>
          <p:nvPr/>
        </p:nvSpPr>
        <p:spPr>
          <a:xfrm>
            <a:off x="548640" y="4233672"/>
            <a:ext cx="5577840" cy="841248"/>
          </a:xfrm>
          <a:prstGeom prst="roundRect">
            <a:avLst>
              <a:gd name="adj" fmla="val 6522"/>
            </a:avLst>
          </a:prstGeom>
          <a:solidFill>
            <a:srgbClr val="0F3E8C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9" name="Text 7"/>
          <p:cNvSpPr/>
          <p:nvPr/>
        </p:nvSpPr>
        <p:spPr>
          <a:xfrm>
            <a:off x="777240" y="4325112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97D5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 clínica / consultorio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77240" y="4617720"/>
            <a:ext cx="5120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D7E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Cumplimiento normativo local (p. ej. NOM-024), archivo y privacidad.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548640" y="5221224"/>
            <a:ext cx="5577840" cy="841248"/>
          </a:xfrm>
          <a:prstGeom prst="roundRect">
            <a:avLst>
              <a:gd name="adj" fmla="val 6522"/>
            </a:avLst>
          </a:prstGeom>
          <a:solidFill>
            <a:srgbClr val="0F3E8C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2" name="Text 10"/>
          <p:cNvSpPr/>
          <p:nvPr/>
        </p:nvSpPr>
        <p:spPr>
          <a:xfrm>
            <a:off x="777240" y="5312664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97D5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Optisave (software)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77240" y="5605272"/>
            <a:ext cx="5120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D7E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Plantillas, autocompletado, </a:t>
            </a:r>
            <a:r>
              <a:rPr lang="en-US" sz="1080" dirty="0" err="1">
                <a:solidFill>
                  <a:srgbClr val="D7E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almacenamiento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6537960" y="1783080"/>
            <a:ext cx="5074920" cy="4343400"/>
          </a:xfrm>
          <a:prstGeom prst="roundRect">
            <a:avLst>
              <a:gd name="adj" fmla="val 168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5" name="Text 13"/>
          <p:cNvSpPr/>
          <p:nvPr/>
        </p:nvSpPr>
        <p:spPr>
          <a:xfrm>
            <a:off x="6812280" y="199339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0049A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DOCUMENTOS QUE GENERA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812280" y="2450592"/>
            <a:ext cx="91440" cy="91440"/>
          </a:xfrm>
          <a:prstGeom prst="ellipse">
            <a:avLst/>
          </a:prstGeom>
          <a:solidFill>
            <a:srgbClr val="0049A8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7" name="Text 15"/>
          <p:cNvSpPr/>
          <p:nvPr/>
        </p:nvSpPr>
        <p:spPr>
          <a:xfrm>
            <a:off x="7022592" y="2340864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F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Medicina general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022592" y="2615184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5B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Certificado médico, consentimiento informado, documento libre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6812280" y="3346704"/>
            <a:ext cx="91440" cy="91440"/>
          </a:xfrm>
          <a:prstGeom prst="ellipse">
            <a:avLst/>
          </a:prstGeom>
          <a:solidFill>
            <a:srgbClr val="0049A8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0" name="Text 18"/>
          <p:cNvSpPr/>
          <p:nvPr/>
        </p:nvSpPr>
        <p:spPr>
          <a:xfrm>
            <a:off x="7022592" y="3236976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F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Optometría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7022592" y="3511296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5B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Receta óptica, receta para paciente, orden de laboratorio, RX</a:t>
            </a:r>
            <a:endParaRPr lang="en-US" sz="1080" dirty="0"/>
          </a:p>
        </p:txBody>
      </p:sp>
      <p:sp>
        <p:nvSpPr>
          <p:cNvPr id="22" name="Shape 20"/>
          <p:cNvSpPr/>
          <p:nvPr/>
        </p:nvSpPr>
        <p:spPr>
          <a:xfrm>
            <a:off x="6812280" y="4242816"/>
            <a:ext cx="91440" cy="91440"/>
          </a:xfrm>
          <a:prstGeom prst="ellipse">
            <a:avLst/>
          </a:prstGeom>
          <a:solidFill>
            <a:srgbClr val="0049A8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3" name="Text 21"/>
          <p:cNvSpPr/>
          <p:nvPr/>
        </p:nvSpPr>
        <p:spPr>
          <a:xfrm>
            <a:off x="7022592" y="4133088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F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Podología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7022592" y="4407408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5B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Valoración podológica</a:t>
            </a:r>
            <a:endParaRPr lang="en-US" sz="1080" dirty="0"/>
          </a:p>
        </p:txBody>
      </p:sp>
      <p:sp>
        <p:nvSpPr>
          <p:cNvPr id="25" name="Shape 23"/>
          <p:cNvSpPr/>
          <p:nvPr/>
        </p:nvSpPr>
        <p:spPr>
          <a:xfrm>
            <a:off x="6812280" y="5138928"/>
            <a:ext cx="91440" cy="91440"/>
          </a:xfrm>
          <a:prstGeom prst="ellipse">
            <a:avLst/>
          </a:prstGeom>
          <a:solidFill>
            <a:srgbClr val="0049A8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6" name="Text 24"/>
          <p:cNvSpPr/>
          <p:nvPr/>
        </p:nvSpPr>
        <p:spPr>
          <a:xfrm>
            <a:off x="7022592" y="502920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F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Ortodoncia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7022592" y="530352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5B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Odontograma, plan de tratamiento</a:t>
            </a:r>
            <a:endParaRPr lang="en-US" sz="1080" dirty="0"/>
          </a:p>
        </p:txBody>
      </p:sp>
      <p:sp>
        <p:nvSpPr>
          <p:cNvPr id="28" name="Shape 26"/>
          <p:cNvSpPr/>
          <p:nvPr/>
        </p:nvSpPr>
        <p:spPr>
          <a:xfrm>
            <a:off x="6812280" y="5998464"/>
            <a:ext cx="4572000" cy="18288"/>
          </a:xfrm>
          <a:prstGeom prst="rect">
            <a:avLst/>
          </a:prstGeom>
          <a:solidFill>
            <a:srgbClr val="E4E9F2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9" name="Text 27"/>
          <p:cNvSpPr/>
          <p:nvPr/>
        </p:nvSpPr>
        <p:spPr>
          <a:xfrm>
            <a:off x="6812280" y="612648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i="1" dirty="0">
                <a:solidFill>
                  <a:srgbClr val="5B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firma y sello son apoyo visual; su validez depende de la práctica profesional y la regulación vigente.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97D5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OPTISAVE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991295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7D5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14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49A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COBERTURA CLÍNICA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F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 sistema, varias especialidades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Pagas y activas solo el módulo que usas: no es un formulario genérico, son pantallas hechas para cada especialidad.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3566160" cy="1691640"/>
          </a:xfrm>
          <a:prstGeom prst="roundRect">
            <a:avLst>
              <a:gd name="adj" fmla="val 4865"/>
            </a:avLst>
          </a:prstGeom>
          <a:solidFill>
            <a:srgbClr val="E4F3F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6" name="Shape 4"/>
          <p:cNvSpPr/>
          <p:nvPr/>
        </p:nvSpPr>
        <p:spPr>
          <a:xfrm>
            <a:off x="804672" y="2295144"/>
            <a:ext cx="502920" cy="73152"/>
          </a:xfrm>
          <a:prstGeom prst="roundRect">
            <a:avLst>
              <a:gd name="adj" fmla="val 50000"/>
            </a:avLst>
          </a:prstGeom>
          <a:solidFill>
            <a:srgbClr val="0049A8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/>
          <p:nvPr/>
        </p:nvSpPr>
        <p:spPr>
          <a:xfrm>
            <a:off x="804672" y="2441448"/>
            <a:ext cx="30540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B2F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Optometría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804672" y="2862072"/>
            <a:ext cx="305409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Refracción, recetas ópticas, órdenes de laboratorio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70832" y="2057400"/>
            <a:ext cx="3566160" cy="1691640"/>
          </a:xfrm>
          <a:prstGeom prst="roundRect">
            <a:avLst>
              <a:gd name="adj" fmla="val 4865"/>
            </a:avLst>
          </a:prstGeom>
          <a:solidFill>
            <a:srgbClr val="E4F3F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0" name="Shape 8"/>
          <p:cNvSpPr/>
          <p:nvPr/>
        </p:nvSpPr>
        <p:spPr>
          <a:xfrm>
            <a:off x="4626864" y="2295144"/>
            <a:ext cx="502920" cy="73152"/>
          </a:xfrm>
          <a:prstGeom prst="roundRect">
            <a:avLst>
              <a:gd name="adj" fmla="val 50000"/>
            </a:avLst>
          </a:prstGeom>
          <a:solidFill>
            <a:srgbClr val="0049A8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/>
          <p:nvPr/>
        </p:nvSpPr>
        <p:spPr>
          <a:xfrm>
            <a:off x="4626864" y="2441448"/>
            <a:ext cx="30540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B2F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Podología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4626864" y="2862072"/>
            <a:ext cx="305409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Valoraciones y seguimiento podológico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193024" y="2057400"/>
            <a:ext cx="3566160" cy="1691640"/>
          </a:xfrm>
          <a:prstGeom prst="roundRect">
            <a:avLst>
              <a:gd name="adj" fmla="val 4865"/>
            </a:avLst>
          </a:prstGeom>
          <a:solidFill>
            <a:srgbClr val="E4F3F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4" name="Shape 12"/>
          <p:cNvSpPr/>
          <p:nvPr/>
        </p:nvSpPr>
        <p:spPr>
          <a:xfrm>
            <a:off x="8449056" y="2295144"/>
            <a:ext cx="502920" cy="73152"/>
          </a:xfrm>
          <a:prstGeom prst="roundRect">
            <a:avLst>
              <a:gd name="adj" fmla="val 50000"/>
            </a:avLst>
          </a:prstGeom>
          <a:solidFill>
            <a:srgbClr val="0049A8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5" name="Text 13"/>
          <p:cNvSpPr/>
          <p:nvPr/>
        </p:nvSpPr>
        <p:spPr>
          <a:xfrm>
            <a:off x="8449056" y="2441448"/>
            <a:ext cx="30540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B2F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Medicina general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8449056" y="2862072"/>
            <a:ext cx="305409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Certificados, consentimientos, documento libre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4005072"/>
            <a:ext cx="3566160" cy="1691640"/>
          </a:xfrm>
          <a:prstGeom prst="roundRect">
            <a:avLst>
              <a:gd name="adj" fmla="val 4865"/>
            </a:avLst>
          </a:prstGeom>
          <a:solidFill>
            <a:srgbClr val="E4F3F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8" name="Shape 16"/>
          <p:cNvSpPr/>
          <p:nvPr/>
        </p:nvSpPr>
        <p:spPr>
          <a:xfrm>
            <a:off x="804672" y="4242816"/>
            <a:ext cx="502920" cy="73152"/>
          </a:xfrm>
          <a:prstGeom prst="roundRect">
            <a:avLst>
              <a:gd name="adj" fmla="val 50000"/>
            </a:avLst>
          </a:prstGeom>
          <a:solidFill>
            <a:srgbClr val="0049A8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9" name="Text 17"/>
          <p:cNvSpPr/>
          <p:nvPr/>
        </p:nvSpPr>
        <p:spPr>
          <a:xfrm>
            <a:off x="804672" y="4389120"/>
            <a:ext cx="30540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B2F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Ortodoncia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804672" y="4809744"/>
            <a:ext cx="305409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Odontograma y plan de tratamiento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370832" y="4005072"/>
            <a:ext cx="3566160" cy="1691640"/>
          </a:xfrm>
          <a:prstGeom prst="roundRect">
            <a:avLst>
              <a:gd name="adj" fmla="val 4865"/>
            </a:avLst>
          </a:prstGeom>
          <a:solidFill>
            <a:srgbClr val="E4F3F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2" name="Shape 20"/>
          <p:cNvSpPr/>
          <p:nvPr/>
        </p:nvSpPr>
        <p:spPr>
          <a:xfrm>
            <a:off x="4626864" y="4242816"/>
            <a:ext cx="502920" cy="73152"/>
          </a:xfrm>
          <a:prstGeom prst="roundRect">
            <a:avLst>
              <a:gd name="adj" fmla="val 50000"/>
            </a:avLst>
          </a:prstGeom>
          <a:solidFill>
            <a:srgbClr val="0049A8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3" name="Text 21"/>
          <p:cNvSpPr/>
          <p:nvPr/>
        </p:nvSpPr>
        <p:spPr>
          <a:xfrm>
            <a:off x="4626864" y="4389120"/>
            <a:ext cx="30540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B2F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Care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4626864" y="4809744"/>
            <a:ext cx="305409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Bienestar / estética: gestión de clientes y sesiones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193024" y="4005072"/>
            <a:ext cx="3566160" cy="1691640"/>
          </a:xfrm>
          <a:prstGeom prst="roundRect">
            <a:avLst>
              <a:gd name="adj" fmla="val 4865"/>
            </a:avLst>
          </a:prstGeom>
          <a:solidFill>
            <a:srgbClr val="0B2F6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6" name="Shape 24"/>
          <p:cNvSpPr/>
          <p:nvPr/>
        </p:nvSpPr>
        <p:spPr>
          <a:xfrm>
            <a:off x="8449056" y="4242816"/>
            <a:ext cx="502920" cy="73152"/>
          </a:xfrm>
          <a:prstGeom prst="roundRect">
            <a:avLst>
              <a:gd name="adj" fmla="val 50000"/>
            </a:avLst>
          </a:prstGeom>
          <a:solidFill>
            <a:srgbClr val="97D5FC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7" name="Text 25"/>
          <p:cNvSpPr/>
          <p:nvPr/>
        </p:nvSpPr>
        <p:spPr>
          <a:xfrm>
            <a:off x="8449056" y="4389120"/>
            <a:ext cx="30540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Próximamente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8449056" y="4809744"/>
            <a:ext cx="305409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9D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Nutrición y Psicología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5B6B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OPTISAVE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991295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14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7065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49A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PRODUCTOS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F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Optisave Cloud vs. Optisave Desktop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257800" cy="4343400"/>
          </a:xfrm>
          <a:prstGeom prst="roundRect">
            <a:avLst>
              <a:gd name="adj" fmla="val 2105"/>
            </a:avLst>
          </a:prstGeom>
          <a:solidFill>
            <a:srgbClr val="E4F3F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5" name="Shape 3"/>
          <p:cNvSpPr/>
          <p:nvPr/>
        </p:nvSpPr>
        <p:spPr>
          <a:xfrm>
            <a:off x="845820" y="2034540"/>
            <a:ext cx="685800" cy="685800"/>
          </a:xfrm>
          <a:prstGeom prst="ellipse">
            <a:avLst/>
          </a:prstGeom>
          <a:solidFill>
            <a:srgbClr val="0049A8"/>
          </a:solidFill>
          <a:ln>
            <a:solidFill>
              <a:schemeClr val="bg1"/>
            </a:solidFill>
          </a:ln>
        </p:spPr>
        <p:txBody>
          <a:bodyPr/>
          <a:lstStyle/>
          <a:p>
            <a:endParaRPr lang="es-MX"/>
          </a:p>
        </p:txBody>
      </p:sp>
      <p:pic>
        <p:nvPicPr>
          <p:cNvPr id="6" name="Image 0" descr="/home/claude/optisave/assets/icon_cl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412" y="2199132"/>
            <a:ext cx="356616" cy="35661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2075688"/>
            <a:ext cx="3977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 err="1">
                <a:solidFill>
                  <a:srgbClr val="0B2F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Optisave</a:t>
            </a:r>
            <a:r>
              <a:rPr lang="en-US" sz="1900" b="1" dirty="0">
                <a:solidFill>
                  <a:srgbClr val="0B2F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app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960120" y="2926080"/>
            <a:ext cx="4434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0049A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ACCESO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960120" y="3172968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72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Navegador web; suscripción en la nube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960120" y="3721608"/>
            <a:ext cx="4434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0049A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BASE DE DATOS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960120" y="3968496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72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 Cloud (proyecto web)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960120" y="4517136"/>
            <a:ext cx="4434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0049A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LICENCIA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960120" y="4764024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72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mensual o anual según módulos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960120" y="5312664"/>
            <a:ext cx="4434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0049A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IDEAL PARA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960120" y="5559552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72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Consultorios con internet estable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172200" y="1783080"/>
            <a:ext cx="5257800" cy="4343400"/>
          </a:xfrm>
          <a:prstGeom prst="roundRect">
            <a:avLst>
              <a:gd name="adj" fmla="val 2105"/>
            </a:avLst>
          </a:prstGeom>
          <a:solidFill>
            <a:srgbClr val="0B2F6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7" name="Shape 14"/>
          <p:cNvSpPr/>
          <p:nvPr/>
        </p:nvSpPr>
        <p:spPr>
          <a:xfrm>
            <a:off x="6469380" y="2034540"/>
            <a:ext cx="685800" cy="685800"/>
          </a:xfrm>
          <a:prstGeom prst="ellipse">
            <a:avLst/>
          </a:prstGeom>
          <a:solidFill>
            <a:srgbClr val="0B2F6B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18" name="Image 1" descr="/home/claude/optisave/assets/icon_monit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3972" y="2199132"/>
            <a:ext cx="356616" cy="356616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7269480" y="2075688"/>
            <a:ext cx="3977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Optisave Desktop</a:t>
            </a:r>
            <a:endParaRPr lang="en-US" sz="1900" dirty="0"/>
          </a:p>
        </p:txBody>
      </p:sp>
      <p:sp>
        <p:nvSpPr>
          <p:cNvPr id="20" name="Text 16"/>
          <p:cNvSpPr/>
          <p:nvPr/>
        </p:nvSpPr>
        <p:spPr>
          <a:xfrm>
            <a:off x="6583680" y="2926080"/>
            <a:ext cx="4434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97D5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ACCESO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6583680" y="3172968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Instalación en Windows 10 / 11</a:t>
            </a:r>
            <a:endParaRPr lang="en-US" sz="1250" dirty="0"/>
          </a:p>
        </p:txBody>
      </p:sp>
      <p:sp>
        <p:nvSpPr>
          <p:cNvPr id="22" name="Text 18"/>
          <p:cNvSpPr/>
          <p:nvPr/>
        </p:nvSpPr>
        <p:spPr>
          <a:xfrm>
            <a:off x="6583680" y="3721608"/>
            <a:ext cx="4434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97D5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BASE DE DATOS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6583680" y="3968496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 local + respaldo en la nube</a:t>
            </a:r>
            <a:endParaRPr lang="en-US" sz="1250" dirty="0"/>
          </a:p>
        </p:txBody>
      </p:sp>
      <p:sp>
        <p:nvSpPr>
          <p:cNvPr id="24" name="Text 20"/>
          <p:cNvSpPr/>
          <p:nvPr/>
        </p:nvSpPr>
        <p:spPr>
          <a:xfrm>
            <a:off x="6583680" y="4517136"/>
            <a:ext cx="4434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97D5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LICENCIA</a:t>
            </a:r>
            <a:endParaRPr lang="en-US" sz="1000" dirty="0"/>
          </a:p>
        </p:txBody>
      </p:sp>
      <p:sp>
        <p:nvSpPr>
          <p:cNvPr id="25" name="Text 21"/>
          <p:cNvSpPr/>
          <p:nvPr/>
        </p:nvSpPr>
        <p:spPr>
          <a:xfrm>
            <a:off x="6583680" y="4764024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Adquisición; precio variable según cotización</a:t>
            </a:r>
            <a:endParaRPr lang="en-US" sz="1250" dirty="0"/>
          </a:p>
        </p:txBody>
      </p:sp>
      <p:sp>
        <p:nvSpPr>
          <p:cNvPr id="26" name="Text 22"/>
          <p:cNvSpPr/>
          <p:nvPr/>
        </p:nvSpPr>
        <p:spPr>
          <a:xfrm>
            <a:off x="6583680" y="5312664"/>
            <a:ext cx="4434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97D5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IDEAL PARA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6583680" y="5559552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Conectividad limitada o preferencia local</a:t>
            </a:r>
            <a:endParaRPr lang="en-US" sz="1250" dirty="0"/>
          </a:p>
        </p:txBody>
      </p:sp>
      <p:sp>
        <p:nvSpPr>
          <p:cNvPr id="28" name="Text 24"/>
          <p:cNvSpPr/>
          <p:nvPr/>
        </p:nvSpPr>
        <p:spPr>
          <a:xfrm>
            <a:off x="548640" y="6236208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comparten base de datos: son proyectos independientes. Migrar de uno a otro no es automático — defínelo con el cliente antes de vender.</a:t>
            </a:r>
            <a:endParaRPr lang="en-US" sz="1050" dirty="0"/>
          </a:p>
        </p:txBody>
      </p:sp>
      <p:sp>
        <p:nvSpPr>
          <p:cNvPr id="29" name="Text 25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5B6B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OPTISAVE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8991295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14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49A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FUNCIONES QUE RETIENEN AL CLIENTE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F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WhatsApp e inventario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66160" cy="4343400"/>
          </a:xfrm>
          <a:prstGeom prst="roundRect">
            <a:avLst>
              <a:gd name="adj" fmla="val 2308"/>
            </a:avLst>
          </a:prstGeom>
          <a:solidFill>
            <a:srgbClr val="E4F3F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5" name="Shape 3"/>
          <p:cNvSpPr/>
          <p:nvPr/>
        </p:nvSpPr>
        <p:spPr>
          <a:xfrm>
            <a:off x="758952" y="1975104"/>
            <a:ext cx="713232" cy="713232"/>
          </a:xfrm>
          <a:prstGeom prst="ellipse">
            <a:avLst/>
          </a:prstGeom>
          <a:solidFill>
            <a:srgbClr val="0049A8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6" name="Image 0" descr="/home/claude/optisave/assets/icon_whatsap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128" y="2146280"/>
            <a:ext cx="370881" cy="370881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04672" y="2834640"/>
            <a:ext cx="3054096" cy="310896"/>
          </a:xfrm>
          <a:prstGeom prst="roundRect">
            <a:avLst>
              <a:gd name="adj" fmla="val 50000"/>
            </a:avLst>
          </a:prstGeom>
          <a:solidFill>
            <a:srgbClr val="0049A8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8" name="Text 5"/>
          <p:cNvSpPr/>
          <p:nvPr/>
        </p:nvSpPr>
        <p:spPr>
          <a:xfrm>
            <a:off x="804672" y="2834640"/>
            <a:ext cx="30540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Incluido en licencia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804672" y="3264408"/>
            <a:ext cx="305409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F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Recordatorios de cita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04672" y="3813048"/>
            <a:ext cx="3054096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72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consultorio vincula su WhatsApp (QR) y Optisave envía recordatorios automáticos que reducen inasistencias.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804672" y="5029200"/>
            <a:ext cx="3054096" cy="18288"/>
          </a:xfrm>
          <a:prstGeom prst="rect">
            <a:avLst/>
          </a:prstGeom>
          <a:solidFill>
            <a:srgbClr val="D6E2F3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2" name="Text 9"/>
          <p:cNvSpPr/>
          <p:nvPr/>
        </p:nvSpPr>
        <p:spPr>
          <a:xfrm>
            <a:off x="804672" y="5148072"/>
            <a:ext cx="305409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i="1" dirty="0">
                <a:solidFill>
                  <a:srgbClr val="5B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Ventana de envío: 12:00–18:00 h (hora México). El uso del número vinculado es responsabilidad del cliente.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370832" y="1783080"/>
            <a:ext cx="3566160" cy="4343400"/>
          </a:xfrm>
          <a:prstGeom prst="roundRect">
            <a:avLst>
              <a:gd name="adj" fmla="val 2308"/>
            </a:avLst>
          </a:prstGeom>
          <a:solidFill>
            <a:srgbClr val="E4F3F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4" name="Shape 11"/>
          <p:cNvSpPr/>
          <p:nvPr/>
        </p:nvSpPr>
        <p:spPr>
          <a:xfrm>
            <a:off x="4581144" y="1975104"/>
            <a:ext cx="713232" cy="713232"/>
          </a:xfrm>
          <a:prstGeom prst="ellipse">
            <a:avLst/>
          </a:prstGeom>
          <a:solidFill>
            <a:srgbClr val="0B2F6B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15" name="Image 1" descr="/home/claude/optisave/assets/icon_handshak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2320" y="2146280"/>
            <a:ext cx="370881" cy="370881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4626864" y="2834640"/>
            <a:ext cx="3054096" cy="310896"/>
          </a:xfrm>
          <a:prstGeom prst="roundRect">
            <a:avLst>
              <a:gd name="adj" fmla="val 50000"/>
            </a:avLst>
          </a:prstGeom>
          <a:solidFill>
            <a:srgbClr val="0B2F6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7" name="Text 13"/>
          <p:cNvSpPr/>
          <p:nvPr/>
        </p:nvSpPr>
        <p:spPr>
          <a:xfrm>
            <a:off x="4626864" y="2834640"/>
            <a:ext cx="30540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Servicio adicional</a:t>
            </a:r>
            <a:endParaRPr lang="en-US" sz="950" dirty="0"/>
          </a:p>
        </p:txBody>
      </p:sp>
      <p:sp>
        <p:nvSpPr>
          <p:cNvPr id="18" name="Text 14"/>
          <p:cNvSpPr/>
          <p:nvPr/>
        </p:nvSpPr>
        <p:spPr>
          <a:xfrm>
            <a:off x="4626864" y="3264408"/>
            <a:ext cx="305409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F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Bot de citas por WhatsApp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4626864" y="3813048"/>
            <a:ext cx="3054096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72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 conversacional que atiende y gestiona citas directo en la cuenta de WhatsApp del consultorio.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4626864" y="5029200"/>
            <a:ext cx="3054096" cy="18288"/>
          </a:xfrm>
          <a:prstGeom prst="rect">
            <a:avLst/>
          </a:prstGeom>
          <a:solidFill>
            <a:srgbClr val="D6E2F3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1" name="Text 17"/>
          <p:cNvSpPr/>
          <p:nvPr/>
        </p:nvSpPr>
        <p:spPr>
          <a:xfrm>
            <a:off x="4626864" y="5148072"/>
            <a:ext cx="305409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i="1" dirty="0">
                <a:solidFill>
                  <a:srgbClr val="5B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incluido en la licencia base: requiere cotización y contrato aparte.</a:t>
            </a:r>
            <a:endParaRPr lang="en-US" sz="950" dirty="0"/>
          </a:p>
        </p:txBody>
      </p:sp>
      <p:sp>
        <p:nvSpPr>
          <p:cNvPr id="22" name="Shape 18"/>
          <p:cNvSpPr/>
          <p:nvPr/>
        </p:nvSpPr>
        <p:spPr>
          <a:xfrm>
            <a:off x="8193024" y="1783080"/>
            <a:ext cx="3566160" cy="4343400"/>
          </a:xfrm>
          <a:prstGeom prst="roundRect">
            <a:avLst>
              <a:gd name="adj" fmla="val 2308"/>
            </a:avLst>
          </a:prstGeom>
          <a:solidFill>
            <a:srgbClr val="E4F3F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3" name="Shape 19"/>
          <p:cNvSpPr/>
          <p:nvPr/>
        </p:nvSpPr>
        <p:spPr>
          <a:xfrm>
            <a:off x="8403336" y="1975104"/>
            <a:ext cx="713232" cy="713232"/>
          </a:xfrm>
          <a:prstGeom prst="ellipse">
            <a:avLst/>
          </a:prstGeom>
          <a:solidFill>
            <a:srgbClr val="0049A8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24" name="Image 2" descr="/home/claude/optisave/assets/icon_pack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4512" y="2146280"/>
            <a:ext cx="370881" cy="370881"/>
          </a:xfrm>
          <a:prstGeom prst="rect">
            <a:avLst/>
          </a:prstGeom>
        </p:spPr>
      </p:pic>
      <p:sp>
        <p:nvSpPr>
          <p:cNvPr id="25" name="Shape 20"/>
          <p:cNvSpPr/>
          <p:nvPr/>
        </p:nvSpPr>
        <p:spPr>
          <a:xfrm>
            <a:off x="8449056" y="2834640"/>
            <a:ext cx="3054096" cy="310896"/>
          </a:xfrm>
          <a:prstGeom prst="roundRect">
            <a:avLst>
              <a:gd name="adj" fmla="val 50000"/>
            </a:avLst>
          </a:prstGeom>
          <a:solidFill>
            <a:srgbClr val="0049A8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6" name="Text 21"/>
          <p:cNvSpPr/>
          <p:nvPr/>
        </p:nvSpPr>
        <p:spPr>
          <a:xfrm>
            <a:off x="8449056" y="2834640"/>
            <a:ext cx="30540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 err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Incluido</a:t>
            </a:r>
            <a:endParaRPr lang="en-US" sz="950" dirty="0"/>
          </a:p>
        </p:txBody>
      </p:sp>
      <p:sp>
        <p:nvSpPr>
          <p:cNvPr id="27" name="Text 22"/>
          <p:cNvSpPr/>
          <p:nvPr/>
        </p:nvSpPr>
        <p:spPr>
          <a:xfrm>
            <a:off x="8449056" y="3264408"/>
            <a:ext cx="305409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F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Inventario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8449056" y="3813048"/>
            <a:ext cx="3054096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72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de stock de insumos, armazones o productos, ligado al consultorio dentro del panel.</a:t>
            </a:r>
            <a:endParaRPr lang="en-US" sz="1100" dirty="0"/>
          </a:p>
        </p:txBody>
      </p:sp>
      <p:sp>
        <p:nvSpPr>
          <p:cNvPr id="29" name="Shape 24"/>
          <p:cNvSpPr/>
          <p:nvPr/>
        </p:nvSpPr>
        <p:spPr>
          <a:xfrm>
            <a:off x="8449056" y="5029200"/>
            <a:ext cx="3054096" cy="18288"/>
          </a:xfrm>
          <a:prstGeom prst="rect">
            <a:avLst/>
          </a:prstGeom>
          <a:solidFill>
            <a:srgbClr val="D6E2F3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0" name="Text 25"/>
          <p:cNvSpPr/>
          <p:nvPr/>
        </p:nvSpPr>
        <p:spPr>
          <a:xfrm>
            <a:off x="8449056" y="5148072"/>
            <a:ext cx="305409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i="1" dirty="0">
                <a:solidFill>
                  <a:srgbClr val="5B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Entradas, salidas y niveles de stock desde /home/inventario.</a:t>
            </a:r>
            <a:endParaRPr lang="en-US" sz="950" dirty="0"/>
          </a:p>
        </p:txBody>
      </p:sp>
      <p:sp>
        <p:nvSpPr>
          <p:cNvPr id="31" name="Text 26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5B6B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OPTISAVE</a:t>
            </a:r>
            <a:endParaRPr lang="en-US" sz="900" dirty="0"/>
          </a:p>
        </p:txBody>
      </p:sp>
      <p:sp>
        <p:nvSpPr>
          <p:cNvPr id="32" name="Text 27"/>
          <p:cNvSpPr/>
          <p:nvPr/>
        </p:nvSpPr>
        <p:spPr>
          <a:xfrm>
            <a:off x="8991295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14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2F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97D5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 ARGUMENTO DE VENTA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Beneficios que evolucionan con el cliente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66160" cy="4297680"/>
          </a:xfrm>
          <a:prstGeom prst="roundRect">
            <a:avLst>
              <a:gd name="adj" fmla="val 2308"/>
            </a:avLst>
          </a:prstGeom>
          <a:solidFill>
            <a:srgbClr val="0F3E8C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5" name="Shape 3"/>
          <p:cNvSpPr/>
          <p:nvPr/>
        </p:nvSpPr>
        <p:spPr>
          <a:xfrm>
            <a:off x="786384" y="2029968"/>
            <a:ext cx="658368" cy="658368"/>
          </a:xfrm>
          <a:prstGeom prst="ellipse">
            <a:avLst/>
          </a:prstGeom>
          <a:solidFill>
            <a:srgbClr val="97D5FC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6" name="Image 0" descr="/home/claude/optisave/assets/icon_clo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" y="2194560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2761488"/>
            <a:ext cx="30540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Corto plazo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04672" y="3090672"/>
            <a:ext cx="3054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97D5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Primeras semanas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804672" y="3584448"/>
            <a:ext cx="82296" cy="82296"/>
          </a:xfrm>
          <a:prstGeom prst="ellipse">
            <a:avLst/>
          </a:prstGeom>
          <a:solidFill>
            <a:srgbClr val="97D5FC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0" name="Text 7"/>
          <p:cNvSpPr/>
          <p:nvPr/>
        </p:nvSpPr>
        <p:spPr>
          <a:xfrm>
            <a:off x="987552" y="3474720"/>
            <a:ext cx="28712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E4E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Menos papel en recepción (registro por QR)</a:t>
            </a:r>
            <a:endParaRPr lang="en-US" sz="1080" dirty="0"/>
          </a:p>
        </p:txBody>
      </p:sp>
      <p:sp>
        <p:nvSpPr>
          <p:cNvPr id="11" name="Shape 8"/>
          <p:cNvSpPr/>
          <p:nvPr/>
        </p:nvSpPr>
        <p:spPr>
          <a:xfrm>
            <a:off x="804672" y="4206240"/>
            <a:ext cx="82296" cy="82296"/>
          </a:xfrm>
          <a:prstGeom prst="ellipse">
            <a:avLst/>
          </a:prstGeom>
          <a:solidFill>
            <a:srgbClr val="97D5FC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2" name="Text 9"/>
          <p:cNvSpPr/>
          <p:nvPr/>
        </p:nvSpPr>
        <p:spPr>
          <a:xfrm>
            <a:off x="987552" y="4096512"/>
            <a:ext cx="28712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E4E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 visible para todo el equipo</a:t>
            </a:r>
            <a:endParaRPr lang="en-US" sz="1080" dirty="0"/>
          </a:p>
        </p:txBody>
      </p:sp>
      <p:sp>
        <p:nvSpPr>
          <p:cNvPr id="13" name="Shape 10"/>
          <p:cNvSpPr/>
          <p:nvPr/>
        </p:nvSpPr>
        <p:spPr>
          <a:xfrm>
            <a:off x="804672" y="4828032"/>
            <a:ext cx="82296" cy="82296"/>
          </a:xfrm>
          <a:prstGeom prst="ellipse">
            <a:avLst/>
          </a:prstGeom>
          <a:solidFill>
            <a:srgbClr val="97D5FC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4" name="Text 11"/>
          <p:cNvSpPr/>
          <p:nvPr/>
        </p:nvSpPr>
        <p:spPr>
          <a:xfrm>
            <a:off x="987552" y="4718304"/>
            <a:ext cx="28712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E4E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Directorio de pacientes sin abrir Excel</a:t>
            </a:r>
            <a:endParaRPr lang="en-US" sz="1080" dirty="0"/>
          </a:p>
        </p:txBody>
      </p:sp>
      <p:sp>
        <p:nvSpPr>
          <p:cNvPr id="15" name="Shape 12"/>
          <p:cNvSpPr/>
          <p:nvPr/>
        </p:nvSpPr>
        <p:spPr>
          <a:xfrm>
            <a:off x="804672" y="5449824"/>
            <a:ext cx="82296" cy="82296"/>
          </a:xfrm>
          <a:prstGeom prst="ellipse">
            <a:avLst/>
          </a:prstGeom>
          <a:solidFill>
            <a:srgbClr val="97D5FC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6" name="Text 13"/>
          <p:cNvSpPr/>
          <p:nvPr/>
        </p:nvSpPr>
        <p:spPr>
          <a:xfrm>
            <a:off x="987552" y="5340096"/>
            <a:ext cx="28712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E4E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Documentos en segundos</a:t>
            </a:r>
            <a:endParaRPr lang="en-US" sz="1080" dirty="0"/>
          </a:p>
        </p:txBody>
      </p:sp>
      <p:sp>
        <p:nvSpPr>
          <p:cNvPr id="17" name="Shape 14"/>
          <p:cNvSpPr/>
          <p:nvPr/>
        </p:nvSpPr>
        <p:spPr>
          <a:xfrm>
            <a:off x="4370832" y="1828800"/>
            <a:ext cx="3566160" cy="4297680"/>
          </a:xfrm>
          <a:prstGeom prst="roundRect">
            <a:avLst>
              <a:gd name="adj" fmla="val 2308"/>
            </a:avLst>
          </a:prstGeom>
          <a:solidFill>
            <a:srgbClr val="0F3E8C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8" name="Shape 15"/>
          <p:cNvSpPr/>
          <p:nvPr/>
        </p:nvSpPr>
        <p:spPr>
          <a:xfrm>
            <a:off x="4608576" y="2029968"/>
            <a:ext cx="658368" cy="658368"/>
          </a:xfrm>
          <a:prstGeom prst="ellipse">
            <a:avLst/>
          </a:prstGeom>
          <a:solidFill>
            <a:srgbClr val="97D5FC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19" name="Image 1" descr="/home/claude/optisave/assets/icon_b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3168" y="2194560"/>
            <a:ext cx="329184" cy="329184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4626864" y="2761488"/>
            <a:ext cx="30540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Mediano plazo</a:t>
            </a:r>
            <a:endParaRPr lang="en-US" sz="1600" dirty="0"/>
          </a:p>
        </p:txBody>
      </p:sp>
      <p:sp>
        <p:nvSpPr>
          <p:cNvPr id="21" name="Text 17"/>
          <p:cNvSpPr/>
          <p:nvPr/>
        </p:nvSpPr>
        <p:spPr>
          <a:xfrm>
            <a:off x="4626864" y="3090672"/>
            <a:ext cx="3054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97D5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1–6 meses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4626864" y="3584448"/>
            <a:ext cx="82296" cy="82296"/>
          </a:xfrm>
          <a:prstGeom prst="ellipse">
            <a:avLst/>
          </a:prstGeom>
          <a:solidFill>
            <a:srgbClr val="97D5FC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3" name="Text 19"/>
          <p:cNvSpPr/>
          <p:nvPr/>
        </p:nvSpPr>
        <p:spPr>
          <a:xfrm>
            <a:off x="4809744" y="3474720"/>
            <a:ext cx="28712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E4E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Historial clínico unificado</a:t>
            </a:r>
            <a:endParaRPr lang="en-US" sz="1080" dirty="0"/>
          </a:p>
        </p:txBody>
      </p:sp>
      <p:sp>
        <p:nvSpPr>
          <p:cNvPr id="24" name="Shape 20"/>
          <p:cNvSpPr/>
          <p:nvPr/>
        </p:nvSpPr>
        <p:spPr>
          <a:xfrm>
            <a:off x="4626864" y="4206240"/>
            <a:ext cx="82296" cy="82296"/>
          </a:xfrm>
          <a:prstGeom prst="ellipse">
            <a:avLst/>
          </a:prstGeom>
          <a:solidFill>
            <a:srgbClr val="97D5FC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5" name="Text 21"/>
          <p:cNvSpPr/>
          <p:nvPr/>
        </p:nvSpPr>
        <p:spPr>
          <a:xfrm>
            <a:off x="4809744" y="4096512"/>
            <a:ext cx="28712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E4E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Menos inasistencias (recordatorios WhatsApp)</a:t>
            </a:r>
            <a:endParaRPr lang="en-US" sz="1080" dirty="0"/>
          </a:p>
        </p:txBody>
      </p:sp>
      <p:sp>
        <p:nvSpPr>
          <p:cNvPr id="26" name="Shape 22"/>
          <p:cNvSpPr/>
          <p:nvPr/>
        </p:nvSpPr>
        <p:spPr>
          <a:xfrm>
            <a:off x="4626864" y="4828032"/>
            <a:ext cx="82296" cy="82296"/>
          </a:xfrm>
          <a:prstGeom prst="ellipse">
            <a:avLst/>
          </a:prstGeom>
          <a:solidFill>
            <a:srgbClr val="97D5FC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7" name="Text 23"/>
          <p:cNvSpPr/>
          <p:nvPr/>
        </p:nvSpPr>
        <p:spPr>
          <a:xfrm>
            <a:off x="4809744" y="4718304"/>
            <a:ext cx="28712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E4E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Inventario integrado</a:t>
            </a:r>
            <a:endParaRPr lang="en-US" sz="1080" dirty="0"/>
          </a:p>
        </p:txBody>
      </p:sp>
      <p:sp>
        <p:nvSpPr>
          <p:cNvPr id="28" name="Shape 24"/>
          <p:cNvSpPr/>
          <p:nvPr/>
        </p:nvSpPr>
        <p:spPr>
          <a:xfrm>
            <a:off x="4626864" y="5449824"/>
            <a:ext cx="82296" cy="82296"/>
          </a:xfrm>
          <a:prstGeom prst="ellipse">
            <a:avLst/>
          </a:prstGeom>
          <a:solidFill>
            <a:srgbClr val="97D5FC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9" name="Text 25"/>
          <p:cNvSpPr/>
          <p:nvPr/>
        </p:nvSpPr>
        <p:spPr>
          <a:xfrm>
            <a:off x="4809744" y="5340096"/>
            <a:ext cx="28712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E4E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Analítica operativa del consultorio</a:t>
            </a:r>
            <a:endParaRPr lang="en-US" sz="1080" dirty="0"/>
          </a:p>
        </p:txBody>
      </p:sp>
      <p:sp>
        <p:nvSpPr>
          <p:cNvPr id="30" name="Shape 26"/>
          <p:cNvSpPr/>
          <p:nvPr/>
        </p:nvSpPr>
        <p:spPr>
          <a:xfrm>
            <a:off x="8193024" y="1828800"/>
            <a:ext cx="3566160" cy="4297680"/>
          </a:xfrm>
          <a:prstGeom prst="roundRect">
            <a:avLst>
              <a:gd name="adj" fmla="val 2308"/>
            </a:avLst>
          </a:prstGeom>
          <a:solidFill>
            <a:srgbClr val="0F3E8C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1" name="Shape 27"/>
          <p:cNvSpPr/>
          <p:nvPr/>
        </p:nvSpPr>
        <p:spPr>
          <a:xfrm>
            <a:off x="8430768" y="2029968"/>
            <a:ext cx="658368" cy="658368"/>
          </a:xfrm>
          <a:prstGeom prst="ellipse">
            <a:avLst/>
          </a:prstGeom>
          <a:solidFill>
            <a:srgbClr val="97D5FC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32" name="Image 2" descr="/home/claude/optisave/assets/icon_trendi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5360" y="2194560"/>
            <a:ext cx="329184" cy="329184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8449056" y="2761488"/>
            <a:ext cx="30540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Largo plazo</a:t>
            </a:r>
            <a:endParaRPr lang="en-US" sz="1600" dirty="0"/>
          </a:p>
        </p:txBody>
      </p:sp>
      <p:sp>
        <p:nvSpPr>
          <p:cNvPr id="34" name="Text 29"/>
          <p:cNvSpPr/>
          <p:nvPr/>
        </p:nvSpPr>
        <p:spPr>
          <a:xfrm>
            <a:off x="8449056" y="3090672"/>
            <a:ext cx="3054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97D5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6+ meses</a:t>
            </a:r>
            <a:endParaRPr lang="en-US" sz="1050" dirty="0"/>
          </a:p>
        </p:txBody>
      </p:sp>
      <p:sp>
        <p:nvSpPr>
          <p:cNvPr id="35" name="Shape 30"/>
          <p:cNvSpPr/>
          <p:nvPr/>
        </p:nvSpPr>
        <p:spPr>
          <a:xfrm>
            <a:off x="8449056" y="3584448"/>
            <a:ext cx="82296" cy="82296"/>
          </a:xfrm>
          <a:prstGeom prst="ellipse">
            <a:avLst/>
          </a:prstGeom>
          <a:solidFill>
            <a:srgbClr val="97D5FC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6" name="Text 31"/>
          <p:cNvSpPr/>
          <p:nvPr/>
        </p:nvSpPr>
        <p:spPr>
          <a:xfrm>
            <a:off x="8631936" y="3474720"/>
            <a:ext cx="28712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E4E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 de 1 consultorio a varias sedes</a:t>
            </a:r>
            <a:endParaRPr lang="en-US" sz="1080" dirty="0"/>
          </a:p>
        </p:txBody>
      </p:sp>
      <p:sp>
        <p:nvSpPr>
          <p:cNvPr id="37" name="Shape 32"/>
          <p:cNvSpPr/>
          <p:nvPr/>
        </p:nvSpPr>
        <p:spPr>
          <a:xfrm>
            <a:off x="8449056" y="4206240"/>
            <a:ext cx="82296" cy="82296"/>
          </a:xfrm>
          <a:prstGeom prst="ellipse">
            <a:avLst/>
          </a:prstGeom>
          <a:solidFill>
            <a:srgbClr val="97D5FC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8" name="Text 33"/>
          <p:cNvSpPr/>
          <p:nvPr/>
        </p:nvSpPr>
        <p:spPr>
          <a:xfrm>
            <a:off x="8631936" y="4096512"/>
            <a:ext cx="28712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E4E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Imagen profesional ante el paciente</a:t>
            </a:r>
            <a:endParaRPr lang="en-US" sz="1080" dirty="0"/>
          </a:p>
        </p:txBody>
      </p:sp>
      <p:sp>
        <p:nvSpPr>
          <p:cNvPr id="39" name="Shape 34"/>
          <p:cNvSpPr/>
          <p:nvPr/>
        </p:nvSpPr>
        <p:spPr>
          <a:xfrm>
            <a:off x="8449056" y="4828032"/>
            <a:ext cx="82296" cy="82296"/>
          </a:xfrm>
          <a:prstGeom prst="ellipse">
            <a:avLst/>
          </a:prstGeom>
          <a:solidFill>
            <a:srgbClr val="97D5FC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0" name="Text 35"/>
          <p:cNvSpPr/>
          <p:nvPr/>
        </p:nvSpPr>
        <p:spPr>
          <a:xfrm>
            <a:off x="8631936" y="4718304"/>
            <a:ext cx="28712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E4E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Menor dependencia de personal administrativo</a:t>
            </a:r>
            <a:endParaRPr lang="en-US" sz="1080" dirty="0"/>
          </a:p>
        </p:txBody>
      </p:sp>
      <p:sp>
        <p:nvSpPr>
          <p:cNvPr id="41" name="Shape 36"/>
          <p:cNvSpPr/>
          <p:nvPr/>
        </p:nvSpPr>
        <p:spPr>
          <a:xfrm>
            <a:off x="8449056" y="5449824"/>
            <a:ext cx="82296" cy="82296"/>
          </a:xfrm>
          <a:prstGeom prst="ellipse">
            <a:avLst/>
          </a:prstGeom>
          <a:solidFill>
            <a:srgbClr val="97D5FC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2" name="Text 37"/>
          <p:cNvSpPr/>
          <p:nvPr/>
        </p:nvSpPr>
        <p:spPr>
          <a:xfrm>
            <a:off x="8631936" y="5340096"/>
            <a:ext cx="28712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E4E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de datos propia y aislada (RLS)</a:t>
            </a:r>
            <a:endParaRPr lang="en-US" sz="1080" dirty="0"/>
          </a:p>
        </p:txBody>
      </p:sp>
      <p:sp>
        <p:nvSpPr>
          <p:cNvPr id="43" name="Text 38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97D5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OPTISAVE</a:t>
            </a:r>
            <a:endParaRPr lang="en-US" sz="900" dirty="0"/>
          </a:p>
        </p:txBody>
      </p:sp>
      <p:sp>
        <p:nvSpPr>
          <p:cNvPr id="44" name="Text 39"/>
          <p:cNvSpPr/>
          <p:nvPr/>
        </p:nvSpPr>
        <p:spPr>
          <a:xfrm>
            <a:off x="8991295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7D5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14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49A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GUION PARA EL EQUIPO COMERCIAL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F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¿Cómo se vende Optisave?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Empieza siempre por el dolor operativo del consultorio, no por la lista de funciones. La demo confirma lo que la conversación ya vendió.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5257800" cy="1298448"/>
          </a:xfrm>
          <a:prstGeom prst="roundRect">
            <a:avLst>
              <a:gd name="adj" fmla="val 5634"/>
            </a:avLst>
          </a:prstGeom>
          <a:solidFill>
            <a:srgbClr val="E4F3F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6" name="Shape 4"/>
          <p:cNvSpPr/>
          <p:nvPr/>
        </p:nvSpPr>
        <p:spPr>
          <a:xfrm>
            <a:off x="795528" y="2377440"/>
            <a:ext cx="566928" cy="566928"/>
          </a:xfrm>
          <a:prstGeom prst="ellipse">
            <a:avLst/>
          </a:prstGeom>
          <a:solidFill>
            <a:srgbClr val="0049A8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7" name="Image 0" descr="/home/claude/optisave/assets/icon_sear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2519172"/>
            <a:ext cx="283464" cy="28346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2139696"/>
            <a:ext cx="4069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F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1. Diagnostica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1508760" y="2432304"/>
            <a:ext cx="4069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80" dirty="0">
                <a:solidFill>
                  <a:srgbClr val="172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“¿Cómo agenda hoy? ¿Dónde guarda el expediente? ¿Cuántas citas se pierden al mes?” Deja que el prospecto describa su propio caos.</a:t>
            </a:r>
            <a:endParaRPr lang="en-US" sz="980" dirty="0"/>
          </a:p>
        </p:txBody>
      </p:sp>
      <p:sp>
        <p:nvSpPr>
          <p:cNvPr id="10" name="Shape 7"/>
          <p:cNvSpPr/>
          <p:nvPr/>
        </p:nvSpPr>
        <p:spPr>
          <a:xfrm>
            <a:off x="6172200" y="2011680"/>
            <a:ext cx="5257800" cy="1298448"/>
          </a:xfrm>
          <a:prstGeom prst="roundRect">
            <a:avLst>
              <a:gd name="adj" fmla="val 5634"/>
            </a:avLst>
          </a:prstGeom>
          <a:solidFill>
            <a:srgbClr val="E4F3F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1" name="Shape 8"/>
          <p:cNvSpPr/>
          <p:nvPr/>
        </p:nvSpPr>
        <p:spPr>
          <a:xfrm>
            <a:off x="6419088" y="2377440"/>
            <a:ext cx="566928" cy="566928"/>
          </a:xfrm>
          <a:prstGeom prst="ellipse">
            <a:avLst/>
          </a:prstGeom>
          <a:solidFill>
            <a:srgbClr val="0049A8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12" name="Image 1" descr="/home/claude/optisave/assets/icon_targe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0820" y="2519172"/>
            <a:ext cx="283464" cy="28346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132320" y="2139696"/>
            <a:ext cx="4069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F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2. Conecta el dolor con el módulo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7132320" y="2432304"/>
            <a:ext cx="4069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80" dirty="0">
                <a:solidFill>
                  <a:srgbClr val="172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Papel en recepción → QR. Agenda de libreta → vista día/semana/mes. Inasistencias → recordatorios WhatsApp.</a:t>
            </a:r>
            <a:endParaRPr lang="en-US" sz="980" dirty="0"/>
          </a:p>
        </p:txBody>
      </p:sp>
      <p:sp>
        <p:nvSpPr>
          <p:cNvPr id="15" name="Shape 11"/>
          <p:cNvSpPr/>
          <p:nvPr/>
        </p:nvSpPr>
        <p:spPr>
          <a:xfrm>
            <a:off x="548640" y="3456432"/>
            <a:ext cx="5257800" cy="1298448"/>
          </a:xfrm>
          <a:prstGeom prst="roundRect">
            <a:avLst>
              <a:gd name="adj" fmla="val 5634"/>
            </a:avLst>
          </a:prstGeom>
          <a:solidFill>
            <a:srgbClr val="E4F3F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6" name="Shape 12"/>
          <p:cNvSpPr/>
          <p:nvPr/>
        </p:nvSpPr>
        <p:spPr>
          <a:xfrm>
            <a:off x="795528" y="3822192"/>
            <a:ext cx="566928" cy="566928"/>
          </a:xfrm>
          <a:prstGeom prst="ellipse">
            <a:avLst/>
          </a:prstGeom>
          <a:solidFill>
            <a:srgbClr val="0049A8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17" name="Image 2" descr="/home/claude/optisave/assets/icon_awar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7260" y="3963924"/>
            <a:ext cx="283464" cy="28346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508760" y="3584448"/>
            <a:ext cx="4069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F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3. Vende por especialidad, no por sistema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1508760" y="3877056"/>
            <a:ext cx="4069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80" dirty="0">
                <a:solidFill>
                  <a:srgbClr val="172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“Esto no es un ERP genérico, son pantallas hechas para optometría / podología / tu especialidad.”</a:t>
            </a:r>
            <a:endParaRPr lang="en-US" sz="980" dirty="0"/>
          </a:p>
        </p:txBody>
      </p:sp>
      <p:sp>
        <p:nvSpPr>
          <p:cNvPr id="20" name="Shape 15"/>
          <p:cNvSpPr/>
          <p:nvPr/>
        </p:nvSpPr>
        <p:spPr>
          <a:xfrm>
            <a:off x="6172200" y="3456432"/>
            <a:ext cx="5257800" cy="1298448"/>
          </a:xfrm>
          <a:prstGeom prst="roundRect">
            <a:avLst>
              <a:gd name="adj" fmla="val 5634"/>
            </a:avLst>
          </a:prstGeom>
          <a:solidFill>
            <a:srgbClr val="E4F3F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1" name="Shape 16"/>
          <p:cNvSpPr/>
          <p:nvPr/>
        </p:nvSpPr>
        <p:spPr>
          <a:xfrm>
            <a:off x="6419088" y="3822192"/>
            <a:ext cx="566928" cy="566928"/>
          </a:xfrm>
          <a:prstGeom prst="ellipse">
            <a:avLst/>
          </a:prstGeom>
          <a:solidFill>
            <a:srgbClr val="0049A8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22" name="Image 3" descr="/home/claude/optisave/assets/icon_dolla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60820" y="3963924"/>
            <a:ext cx="283464" cy="28346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132320" y="3584448"/>
            <a:ext cx="4069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F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4. Ancla el plan al tamaño real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7132320" y="3877056"/>
            <a:ext cx="4069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80" dirty="0">
                <a:solidFill>
                  <a:srgbClr val="172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consultorio: Cloud por módulo. Conectividad limitada o control local: Desktop, con cotización a la medida.</a:t>
            </a:r>
            <a:endParaRPr lang="en-US" sz="980" dirty="0"/>
          </a:p>
        </p:txBody>
      </p:sp>
      <p:sp>
        <p:nvSpPr>
          <p:cNvPr id="25" name="Shape 19"/>
          <p:cNvSpPr/>
          <p:nvPr/>
        </p:nvSpPr>
        <p:spPr>
          <a:xfrm>
            <a:off x="548640" y="4901184"/>
            <a:ext cx="5257800" cy="1298448"/>
          </a:xfrm>
          <a:prstGeom prst="roundRect">
            <a:avLst>
              <a:gd name="adj" fmla="val 5634"/>
            </a:avLst>
          </a:prstGeom>
          <a:solidFill>
            <a:srgbClr val="E4F3F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6" name="Shape 20"/>
          <p:cNvSpPr/>
          <p:nvPr/>
        </p:nvSpPr>
        <p:spPr>
          <a:xfrm>
            <a:off x="795528" y="5266944"/>
            <a:ext cx="566928" cy="566928"/>
          </a:xfrm>
          <a:prstGeom prst="ellipse">
            <a:avLst/>
          </a:prstGeom>
          <a:solidFill>
            <a:srgbClr val="0049A8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27" name="Image 4" descr="/home/claude/optisave/assets/icon_shiel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7260" y="5408676"/>
            <a:ext cx="283464" cy="283464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508760" y="5029200"/>
            <a:ext cx="4069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F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5. Cierra con confianza normativa</a:t>
            </a:r>
            <a:endParaRPr lang="en-US" sz="1250" dirty="0"/>
          </a:p>
        </p:txBody>
      </p:sp>
      <p:sp>
        <p:nvSpPr>
          <p:cNvPr id="29" name="Text 22"/>
          <p:cNvSpPr/>
          <p:nvPr/>
        </p:nvSpPr>
        <p:spPr>
          <a:xfrm>
            <a:off x="1508760" y="5321808"/>
            <a:ext cx="4069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80" dirty="0">
                <a:solidFill>
                  <a:srgbClr val="172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Expediente auditable alineado a NOM-024 y aislamiento de datos por consultorio (RLS): argumento clave frente a la competencia en papel.</a:t>
            </a:r>
            <a:endParaRPr lang="en-US" sz="980" dirty="0"/>
          </a:p>
        </p:txBody>
      </p:sp>
      <p:sp>
        <p:nvSpPr>
          <p:cNvPr id="30" name="Shape 23"/>
          <p:cNvSpPr/>
          <p:nvPr/>
        </p:nvSpPr>
        <p:spPr>
          <a:xfrm>
            <a:off x="6172200" y="4901184"/>
            <a:ext cx="5257800" cy="1298448"/>
          </a:xfrm>
          <a:prstGeom prst="roundRect">
            <a:avLst>
              <a:gd name="adj" fmla="val 5634"/>
            </a:avLst>
          </a:prstGeom>
          <a:solidFill>
            <a:srgbClr val="E4F3F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1" name="Shape 24"/>
          <p:cNvSpPr/>
          <p:nvPr/>
        </p:nvSpPr>
        <p:spPr>
          <a:xfrm>
            <a:off x="6419088" y="5266944"/>
            <a:ext cx="566928" cy="566928"/>
          </a:xfrm>
          <a:prstGeom prst="ellipse">
            <a:avLst/>
          </a:prstGeom>
          <a:solidFill>
            <a:srgbClr val="0049A8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32" name="Image 5" descr="/home/claude/optisave/assets/icon_handshak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60820" y="5408676"/>
            <a:ext cx="283464" cy="283464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7132320" y="5029200"/>
            <a:ext cx="4069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F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6. Deja la puerta abierta a crecer</a:t>
            </a:r>
            <a:endParaRPr lang="en-US" sz="1250" dirty="0"/>
          </a:p>
        </p:txBody>
      </p:sp>
      <p:sp>
        <p:nvSpPr>
          <p:cNvPr id="34" name="Text 26"/>
          <p:cNvSpPr/>
          <p:nvPr/>
        </p:nvSpPr>
        <p:spPr>
          <a:xfrm>
            <a:off x="7132320" y="5321808"/>
            <a:ext cx="4069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80" dirty="0">
                <a:solidFill>
                  <a:srgbClr val="172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 de citas por WhatsApp e inventario avanzado como upsell natural una vez que el cliente ya confía en el sistema.</a:t>
            </a:r>
            <a:endParaRPr lang="en-US" sz="980" dirty="0"/>
          </a:p>
        </p:txBody>
      </p:sp>
      <p:sp>
        <p:nvSpPr>
          <p:cNvPr id="35" name="Text 27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5B6B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OPTISAVE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8991295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14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49A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TRANSPARENCIA COMERCIAL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F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Objeciones frecuentes y cómo responderlas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Conocer estas limitaciones antes que el cliente las pregunte genera confianza y evita cancelaciones post-venta.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25780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CE6F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/>
          <p:nvPr/>
        </p:nvSpPr>
        <p:spPr>
          <a:xfrm>
            <a:off x="777240" y="205740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2F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“¿Emite factura fiscal (CFDI) de mis ingresos?”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77240" y="2423160"/>
            <a:ext cx="4800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80" dirty="0">
                <a:solidFill>
                  <a:srgbClr val="5B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No. Optisave gestiona la suscripción del software vía Stripe; no es un sistema de facturación fiscal para los ingresos del consultorio.</a:t>
            </a:r>
            <a:endParaRPr lang="en-US" sz="980" dirty="0"/>
          </a:p>
        </p:txBody>
      </p:sp>
      <p:sp>
        <p:nvSpPr>
          <p:cNvPr id="8" name="Shape 6"/>
          <p:cNvSpPr/>
          <p:nvPr/>
        </p:nvSpPr>
        <p:spPr>
          <a:xfrm>
            <a:off x="6172200" y="1965960"/>
            <a:ext cx="525780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CE6F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Text 7"/>
          <p:cNvSpPr/>
          <p:nvPr/>
        </p:nvSpPr>
        <p:spPr>
          <a:xfrm>
            <a:off x="6400800" y="205740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2F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“¿Los recordatorios de WhatsApp son ilimitados y garantizados?”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400800" y="2423160"/>
            <a:ext cx="4800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80" dirty="0">
                <a:solidFill>
                  <a:srgbClr val="5B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envían en ventana de 12:00 a 18:00 h y Optisave no responde por el uso indebido del número vinculado del cliente.</a:t>
            </a:r>
            <a:endParaRPr lang="en-US" sz="980" dirty="0"/>
          </a:p>
        </p:txBody>
      </p:sp>
      <p:sp>
        <p:nvSpPr>
          <p:cNvPr id="11" name="Shape 9"/>
          <p:cNvSpPr/>
          <p:nvPr/>
        </p:nvSpPr>
        <p:spPr>
          <a:xfrm>
            <a:off x="548640" y="3410712"/>
            <a:ext cx="525780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CE6F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" name="Text 10"/>
          <p:cNvSpPr/>
          <p:nvPr/>
        </p:nvSpPr>
        <p:spPr>
          <a:xfrm>
            <a:off x="777240" y="3502152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2F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“¿Puedo migrar de Desktop a Cloud sin problema?”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77240" y="3867912"/>
            <a:ext cx="4800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80" dirty="0">
                <a:solidFill>
                  <a:srgbClr val="5B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 proyectos de base de datos independientes; la migración no es automática y debe planearse.</a:t>
            </a:r>
            <a:endParaRPr lang="en-US" sz="980" dirty="0"/>
          </a:p>
        </p:txBody>
      </p:sp>
      <p:sp>
        <p:nvSpPr>
          <p:cNvPr id="14" name="Shape 12"/>
          <p:cNvSpPr/>
          <p:nvPr/>
        </p:nvSpPr>
        <p:spPr>
          <a:xfrm>
            <a:off x="6172200" y="3410712"/>
            <a:ext cx="525780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CE6F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5" name="Text 13"/>
          <p:cNvSpPr/>
          <p:nvPr/>
        </p:nvSpPr>
        <p:spPr>
          <a:xfrm>
            <a:off x="6400800" y="3502152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2F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“¿Hay app en la tienda de Android / iOS?”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400800" y="3867912"/>
            <a:ext cx="4800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80" dirty="0">
                <a:solidFill>
                  <a:srgbClr val="5B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 una web app responsiva accesible desde cualquier navegador; no hay app nativa en tiendas.la </a:t>
            </a:r>
            <a:r>
              <a:rPr lang="en-US" sz="980" dirty="0" err="1">
                <a:solidFill>
                  <a:srgbClr val="5B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aplicacion</a:t>
            </a:r>
            <a:r>
              <a:rPr lang="en-US" sz="980" dirty="0">
                <a:solidFill>
                  <a:srgbClr val="5B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980" dirty="0" err="1">
                <a:solidFill>
                  <a:srgbClr val="5B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nativa</a:t>
            </a:r>
            <a:r>
              <a:rPr lang="en-US" sz="980" dirty="0">
                <a:solidFill>
                  <a:srgbClr val="5B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es para la </a:t>
            </a:r>
            <a:r>
              <a:rPr lang="en-US" sz="980" dirty="0" err="1">
                <a:solidFill>
                  <a:srgbClr val="5B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exposicion</a:t>
            </a:r>
            <a:r>
              <a:rPr lang="en-US" sz="980" dirty="0">
                <a:solidFill>
                  <a:srgbClr val="5B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980" dirty="0" err="1">
                <a:solidFill>
                  <a:srgbClr val="5B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</a:t>
            </a:r>
            <a:r>
              <a:rPr lang="en-US" sz="980" dirty="0">
                <a:solidFill>
                  <a:srgbClr val="5B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internet para </a:t>
            </a:r>
            <a:r>
              <a:rPr lang="en-US" sz="980" dirty="0" err="1">
                <a:solidFill>
                  <a:srgbClr val="5B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doctores</a:t>
            </a:r>
            <a:endParaRPr lang="en-US" sz="980" dirty="0"/>
          </a:p>
        </p:txBody>
      </p:sp>
      <p:sp>
        <p:nvSpPr>
          <p:cNvPr id="17" name="Shape 15"/>
          <p:cNvSpPr/>
          <p:nvPr/>
        </p:nvSpPr>
        <p:spPr>
          <a:xfrm>
            <a:off x="548640" y="4855464"/>
            <a:ext cx="525780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CE6F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8" name="Text 16"/>
          <p:cNvSpPr/>
          <p:nvPr/>
        </p:nvSpPr>
        <p:spPr>
          <a:xfrm>
            <a:off x="777240" y="4946904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2F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“¿Cumple automáticamente con la ley?”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777240" y="5312664"/>
            <a:ext cx="4800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80" dirty="0">
                <a:solidFill>
                  <a:srgbClr val="5B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Optisave implementa prácticas alineadas a NOM-024 (trazabilidad, registro, auditoría); el cumplimiento legal final sigue siendo responsabilidad del consultorio.</a:t>
            </a:r>
            <a:endParaRPr lang="en-US" sz="980" dirty="0"/>
          </a:p>
        </p:txBody>
      </p:sp>
      <p:sp>
        <p:nvSpPr>
          <p:cNvPr id="20" name="Shape 18"/>
          <p:cNvSpPr/>
          <p:nvPr/>
        </p:nvSpPr>
        <p:spPr>
          <a:xfrm>
            <a:off x="6172200" y="4855464"/>
            <a:ext cx="525780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CE6F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1" name="Text 19"/>
          <p:cNvSpPr/>
          <p:nvPr/>
        </p:nvSpPr>
        <p:spPr>
          <a:xfrm>
            <a:off x="6400800" y="4946904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2F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“¿Sirve para una clínica con miles de pacientes?”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400800" y="5312664"/>
            <a:ext cx="4800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80" dirty="0" err="1">
                <a:solidFill>
                  <a:srgbClr val="5B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</a:t>
            </a:r>
            <a:r>
              <a:rPr lang="en-US" sz="980" dirty="0">
                <a:solidFill>
                  <a:srgbClr val="5B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980" dirty="0" err="1">
                <a:solidFill>
                  <a:srgbClr val="5B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</a:t>
            </a:r>
            <a:r>
              <a:rPr lang="en-US" sz="980" dirty="0">
                <a:solidFill>
                  <a:srgbClr val="5B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980" dirty="0" err="1">
                <a:solidFill>
                  <a:srgbClr val="5B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pacientes</a:t>
            </a:r>
            <a:r>
              <a:rPr lang="en-US" sz="980" dirty="0">
                <a:solidFill>
                  <a:srgbClr val="5B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980" dirty="0" err="1">
                <a:solidFill>
                  <a:srgbClr val="5B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citas</a:t>
            </a:r>
            <a:r>
              <a:rPr lang="en-US" sz="980" dirty="0">
                <a:solidFill>
                  <a:srgbClr val="5B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son </a:t>
            </a:r>
            <a:r>
              <a:rPr lang="en-US" sz="980" dirty="0" err="1">
                <a:solidFill>
                  <a:srgbClr val="5B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ilimitadas</a:t>
            </a:r>
            <a:endParaRPr lang="en-US" sz="980" dirty="0"/>
          </a:p>
        </p:txBody>
      </p:sp>
      <p:sp>
        <p:nvSpPr>
          <p:cNvPr id="23" name="Text 21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5B6B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OPTISAVE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991295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14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2F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97D5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PROYECCIÓN COMERCIAL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Por qué Optisave puede ganar este mercado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611880" cy="1691640"/>
          </a:xfrm>
          <a:prstGeom prst="roundRect">
            <a:avLst>
              <a:gd name="adj" fmla="val 4865"/>
            </a:avLst>
          </a:prstGeom>
          <a:solidFill>
            <a:srgbClr val="0F3E8C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5" name="Text 3"/>
          <p:cNvSpPr/>
          <p:nvPr/>
        </p:nvSpPr>
        <p:spPr>
          <a:xfrm>
            <a:off x="777240" y="1874520"/>
            <a:ext cx="3154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97D5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20–25%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77240" y="2578608"/>
            <a:ext cx="3154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7E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 gasto en salud se va en costos administrativos que la digitalización puede reducir (Penn LDI, 2025).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389120" y="1783080"/>
            <a:ext cx="3611880" cy="1691640"/>
          </a:xfrm>
          <a:prstGeom prst="roundRect">
            <a:avLst>
              <a:gd name="adj" fmla="val 4865"/>
            </a:avLst>
          </a:prstGeom>
          <a:solidFill>
            <a:srgbClr val="0F3E8C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/>
          <p:nvPr/>
        </p:nvSpPr>
        <p:spPr>
          <a:xfrm>
            <a:off x="4617720" y="1874520"/>
            <a:ext cx="3154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97D5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71%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4617720" y="2578608"/>
            <a:ext cx="3154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7E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directivos del sector espera que los sistemas integrados impulsen la rentabilidad este año (Deloitte Health Care Outlook 2025).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229600" y="1783080"/>
            <a:ext cx="3611880" cy="1691640"/>
          </a:xfrm>
          <a:prstGeom prst="roundRect">
            <a:avLst>
              <a:gd name="adj" fmla="val 4865"/>
            </a:avLst>
          </a:prstGeom>
          <a:solidFill>
            <a:srgbClr val="0F3E8C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/>
          <p:nvPr/>
        </p:nvSpPr>
        <p:spPr>
          <a:xfrm>
            <a:off x="8458200" y="1874520"/>
            <a:ext cx="3154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97D5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 de 10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8458200" y="2578608"/>
            <a:ext cx="3154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7E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pacientes ya buscan información médica en línea antes de decidir dónde atenderse.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30936" y="3803904"/>
            <a:ext cx="566928" cy="566928"/>
          </a:xfrm>
          <a:prstGeom prst="ellipse">
            <a:avLst/>
          </a:prstGeom>
          <a:solidFill>
            <a:srgbClr val="97D5FC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14" name="Image 0" descr="/home/claude/optisave/assets/icon_glo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" y="3945636"/>
            <a:ext cx="283464" cy="283464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371600" y="3794760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Digitalización ya no es opcional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371600" y="4096512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9D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Nuevas exigencias regulatorias y de eficiencia empujan a consultorios pequeños que antes solo usaban papel.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30936" y="4572000"/>
            <a:ext cx="566928" cy="566928"/>
          </a:xfrm>
          <a:prstGeom prst="ellipse">
            <a:avLst/>
          </a:prstGeom>
          <a:solidFill>
            <a:srgbClr val="97D5FC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18" name="Image 1" descr="/home/claude/optisave/assets/icon_lay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668" y="4713732"/>
            <a:ext cx="283464" cy="283464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1371600" y="4562856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Nicho desatendido: el consultorio pequeño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1371600" y="4864608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9D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ERP hospitalarios sobran para 1 doctor; Optisave nace para ese segmento específico, sin sobre-ingeniería.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630936" y="5340096"/>
            <a:ext cx="566928" cy="566928"/>
          </a:xfrm>
          <a:prstGeom prst="ellipse">
            <a:avLst/>
          </a:prstGeom>
          <a:solidFill>
            <a:srgbClr val="97D5FC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22" name="Image 2" descr="/home/claude/optisave/assets/icon_trendi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668" y="5481828"/>
            <a:ext cx="283464" cy="283464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371600" y="5330952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Modelo modular y recurrente</a:t>
            </a:r>
            <a:endParaRPr lang="en-US" sz="1400" dirty="0"/>
          </a:p>
        </p:txBody>
      </p:sp>
      <p:sp>
        <p:nvSpPr>
          <p:cNvPr id="24" name="Text 19"/>
          <p:cNvSpPr/>
          <p:nvPr/>
        </p:nvSpPr>
        <p:spPr>
          <a:xfrm>
            <a:off x="1371600" y="5632704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9D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Ingreso recurrente por licencia + expansión natural vía módulos, sedes y servicios adicionales (bot WhatsApp).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97D5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OPTISAVE</a:t>
            </a:r>
            <a:endParaRPr lang="en-US" sz="900" dirty="0"/>
          </a:p>
        </p:txBody>
      </p:sp>
      <p:sp>
        <p:nvSpPr>
          <p:cNvPr id="26" name="Text 21"/>
          <p:cNvSpPr/>
          <p:nvPr/>
        </p:nvSpPr>
        <p:spPr>
          <a:xfrm>
            <a:off x="8991295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7D5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14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49A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RESPALDO TÉCNICO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F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Arquitectura pensada para escalar y proteger datos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0049A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FRONTEND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606040" y="1783080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72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Next.js, React, Tailwind CSS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48640" y="2350008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0049A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BACKEND / BD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606040" y="2350008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72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 (PostgreSQL, Auth, Storage, Realtime)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48640" y="2916936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0049A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PAGOS SAAS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606040" y="2916936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72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Stripe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48640" y="3483864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0049A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DESPLIEGUE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606040" y="3483864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72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Vercel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48640" y="4050792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0049A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ARQUITECTURA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606040" y="4050792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72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SaaS multi-tenant con Row Level Security (RLS)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48640" y="46177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0049A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ROLES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606040" y="4617720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72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Propietario, administrador, doctor, recepcionista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537960" y="1783080"/>
            <a:ext cx="5074920" cy="4343400"/>
          </a:xfrm>
          <a:prstGeom prst="roundRect">
            <a:avLst>
              <a:gd name="adj" fmla="val 1895"/>
            </a:avLst>
          </a:prstGeom>
          <a:solidFill>
            <a:srgbClr val="0B2F6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7" name="Shape 15"/>
          <p:cNvSpPr/>
          <p:nvPr/>
        </p:nvSpPr>
        <p:spPr>
          <a:xfrm>
            <a:off x="6835140" y="2034540"/>
            <a:ext cx="777240" cy="777240"/>
          </a:xfrm>
          <a:prstGeom prst="ellipse">
            <a:avLst/>
          </a:prstGeom>
          <a:solidFill>
            <a:srgbClr val="97D5FC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18" name="Image 0" descr="/home/claude/optisave/assets/icon_shie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9450" y="2228850"/>
            <a:ext cx="388620" cy="38862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7772400" y="2121408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Seguridad y privacidad</a:t>
            </a:r>
            <a:endParaRPr lang="en-US" sz="1650" dirty="0"/>
          </a:p>
        </p:txBody>
      </p:sp>
      <p:sp>
        <p:nvSpPr>
          <p:cNvPr id="20" name="Shape 17"/>
          <p:cNvSpPr/>
          <p:nvPr/>
        </p:nvSpPr>
        <p:spPr>
          <a:xfrm>
            <a:off x="6858000" y="3136392"/>
            <a:ext cx="82296" cy="82296"/>
          </a:xfrm>
          <a:prstGeom prst="ellipse">
            <a:avLst/>
          </a:prstGeom>
          <a:solidFill>
            <a:srgbClr val="97D5FC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1" name="Text 18"/>
          <p:cNvSpPr/>
          <p:nvPr/>
        </p:nvSpPr>
        <p:spPr>
          <a:xfrm>
            <a:off x="7059168" y="3026664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4E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Autenticación con Supabase, MFA soportado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6858000" y="3703320"/>
            <a:ext cx="82296" cy="82296"/>
          </a:xfrm>
          <a:prstGeom prst="ellipse">
            <a:avLst/>
          </a:prstGeom>
          <a:solidFill>
            <a:srgbClr val="97D5FC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3" name="Text 20"/>
          <p:cNvSpPr/>
          <p:nvPr/>
        </p:nvSpPr>
        <p:spPr>
          <a:xfrm>
            <a:off x="7059168" y="3593592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4E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Aislamiento de datos por cuenta/consultorio vía RLS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6858000" y="4270248"/>
            <a:ext cx="82296" cy="82296"/>
          </a:xfrm>
          <a:prstGeom prst="ellipse">
            <a:avLst/>
          </a:prstGeom>
          <a:solidFill>
            <a:srgbClr val="97D5FC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5" name="Text 22"/>
          <p:cNvSpPr/>
          <p:nvPr/>
        </p:nvSpPr>
        <p:spPr>
          <a:xfrm>
            <a:off x="7059168" y="416052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4E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Rutas privadas excluidas de indexación pública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6858000" y="4837176"/>
            <a:ext cx="82296" cy="82296"/>
          </a:xfrm>
          <a:prstGeom prst="ellipse">
            <a:avLst/>
          </a:prstGeom>
          <a:solidFill>
            <a:srgbClr val="97D5FC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7" name="Text 24"/>
          <p:cNvSpPr/>
          <p:nvPr/>
        </p:nvSpPr>
        <p:spPr>
          <a:xfrm>
            <a:off x="7059168" y="4727448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4E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Infraestructura sobre Supabase, Vercel y Stripe</a:t>
            </a:r>
            <a:endParaRPr lang="en-US" sz="1150" dirty="0"/>
          </a:p>
        </p:txBody>
      </p:sp>
      <p:sp>
        <p:nvSpPr>
          <p:cNvPr id="28" name="Text 25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5B6B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OPTISAVE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8991295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14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2F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377440" y="-2560320"/>
            <a:ext cx="6400800" cy="6400800"/>
          </a:xfrm>
          <a:prstGeom prst="ellipse">
            <a:avLst/>
          </a:prstGeom>
          <a:solidFill>
            <a:srgbClr val="0049A8">
              <a:alpha val="20000"/>
            </a:srgb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8686800" y="3840480"/>
            <a:ext cx="5943600" cy="5943600"/>
          </a:xfrm>
          <a:prstGeom prst="ellipse">
            <a:avLst/>
          </a:prstGeom>
          <a:solidFill>
            <a:srgbClr val="97D5FC">
              <a:alpha val="12000"/>
            </a:srgbClr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4" name="Image 0" descr="/home/claude/optisave/assets/logo_no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7528" y="777240"/>
            <a:ext cx="1463040" cy="1463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0" y="2423160"/>
            <a:ext cx="1219169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Menos papel, más consultas.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2011680" y="3246120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i="1" dirty="0">
                <a:solidFill>
                  <a:srgbClr val="97D5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consultorio que hoy trabaja con papel y WhatsApp suelto es una oportunidad de venta abierta.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1440180" y="4046220"/>
            <a:ext cx="777240" cy="777240"/>
          </a:xfrm>
          <a:prstGeom prst="ellipse">
            <a:avLst/>
          </a:prstGeom>
          <a:solidFill>
            <a:srgbClr val="0049A8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8" name="Image 1" descr="/home/claude/optisave/assets/icon_sear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4490" y="4240530"/>
            <a:ext cx="388620" cy="3886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80160" y="48920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Diagnostica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1280160" y="5193792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C9D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Identifica el dolor operativo del prospecto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4732020" y="4046220"/>
            <a:ext cx="777240" cy="777240"/>
          </a:xfrm>
          <a:prstGeom prst="ellipse">
            <a:avLst/>
          </a:prstGeom>
          <a:solidFill>
            <a:srgbClr val="0049A8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12" name="Image 2" descr="/home/claude/optisave/assets/icon_targe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26330" y="4240530"/>
            <a:ext cx="388620" cy="3886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572000" y="48920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Propón el módulo correcto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4572000" y="5193792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C9D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o Desktop, según su realidad</a:t>
            </a:r>
            <a:endParaRPr lang="en-US" sz="1050" dirty="0"/>
          </a:p>
        </p:txBody>
      </p:sp>
      <p:sp>
        <p:nvSpPr>
          <p:cNvPr id="15" name="Shape 10"/>
          <p:cNvSpPr/>
          <p:nvPr/>
        </p:nvSpPr>
        <p:spPr>
          <a:xfrm>
            <a:off x="8023860" y="4046220"/>
            <a:ext cx="777240" cy="777240"/>
          </a:xfrm>
          <a:prstGeom prst="ellipse">
            <a:avLst/>
          </a:prstGeom>
          <a:solidFill>
            <a:srgbClr val="0049A8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16" name="Image 3" descr="/home/claude/optisave/assets/icon_handshak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18170" y="4240530"/>
            <a:ext cx="388620" cy="38862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863840" y="48920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Cierra con confianza</a:t>
            </a:r>
            <a:endParaRPr lang="en-US" sz="1300" dirty="0"/>
          </a:p>
        </p:txBody>
      </p:sp>
      <p:sp>
        <p:nvSpPr>
          <p:cNvPr id="18" name="Text 12"/>
          <p:cNvSpPr/>
          <p:nvPr/>
        </p:nvSpPr>
        <p:spPr>
          <a:xfrm>
            <a:off x="7863840" y="5193792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C9D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NOM-024, RLS y soporte en español</a:t>
            </a:r>
            <a:endParaRPr lang="en-US" sz="1050" dirty="0"/>
          </a:p>
        </p:txBody>
      </p:sp>
      <p:sp>
        <p:nvSpPr>
          <p:cNvPr id="19" name="Text 13"/>
          <p:cNvSpPr/>
          <p:nvPr/>
        </p:nvSpPr>
        <p:spPr>
          <a:xfrm>
            <a:off x="0" y="617220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97D5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optisave.app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622</TotalTime>
  <Words>1565</Words>
  <Application>Microsoft Office PowerPoint</Application>
  <PresentationFormat>Panorámica</PresentationFormat>
  <Paragraphs>240</Paragraphs>
  <Slides>14</Slides>
  <Notes>14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7" baseType="lpstr">
      <vt:lpstr>Arial</vt:lpstr>
      <vt:lpstr>Montserrat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Optisave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Optisave</dc:creator>
  <cp:lastModifiedBy>Diana Noemí Hernandez de Leon</cp:lastModifiedBy>
  <cp:revision>2</cp:revision>
  <dcterms:created xsi:type="dcterms:W3CDTF">2026-07-24T18:06:37Z</dcterms:created>
  <dcterms:modified xsi:type="dcterms:W3CDTF">2026-07-25T06:51:11Z</dcterms:modified>
</cp:coreProperties>
</file>